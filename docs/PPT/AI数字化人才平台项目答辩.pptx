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08A6F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061F3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{"单元测试","集成测试","Dify 联调"}</c:f>
              <c:strCache>
                <c:ptCount val="3"/>
                <c:pt idx="0">
                  <c:v>单元测试</c:v>
                </c:pt>
                <c:pt idx="1">
                  <c:v>集成测试</c:v>
                </c:pt>
                <c:pt idx="2">
                  <c:v>Dify 联调</c:v>
                </c:pt>
              </c:strCache>
            </c:strRef>
          </c:cat>
          <c:val>
            <c:numRef>
              <c:f>{45,28,5}</c:f>
              <c:numCache>
                <c:formatCode>General</c:formatCode>
                <c:ptCount val="3"/>
                <c:pt idx="0">
                  <c:v>45</c:v>
                </c:pt>
                <c:pt idx="1">
                  <c:v>28</c:v>
                </c:pt>
                <c:pt idx="2">
                  <c:v>5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4e3d0df-8d8e-46ec-b2e3-92ee46350bef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notes={`各位评委老师好，我是本项目的技术负责人。今天由我代表项目组，向大家汇报&quot;AI数字化人才平台&quot;的建设成果。&#10;&#10;这个项目用 280 万元预算、7 天完成开发上线，4 天验收。我们交付的，是一个覆盖人才档案、智能测评、岗位匹配、培训赋能、数据决策五大业务闭环的 AI 原生平台。&#10;&#10;接下来我会用大约 15 分钟，从项目背景、总体架构、核心能力、质量验证、交付展望五个维度，把&quot;我们做了什么、怎么做的、效果如何&quot;讲清楚。`}&gt;&#10;  &lt;Box style={{ width: 1280, height: 720, background: 'linear-gradient(135deg, #061F32 0%, #0A2E4A 60%, #0E3A5C 100%)', padding: 60, position: 'relative', overflow: 'hidden' }}&gt;&#10;    {/* 背景科技几何网格 */}&#10;    &lt;svg width={1280} height={720} viewBox='0 0 1280 720' style={{ position: 'absolute', top: 0, left: 0, opacity: 0.18 }}&gt;&#10;      &lt;g stroke='#08A6F6' strokeWidth='1'&gt;&#10;        &lt;line x1='760' y1='0' x2='760' y2='720' /&gt;&#10;        &lt;line x1='1000' y1='0' x2='1000' y2='720' /&gt;&#10;        &lt;line x1='0' y1='220' x2='1280' y2='220' /&gt;&#10;        &lt;line x1='0' y1='440' x2='1280' y2='440' /&gt;&#10;      &lt;/g&gt;&#10;      &lt;g fill='none' stroke='#08A6F6' strokeWidth='1.5'&gt;&#10;        &lt;circle cx='1040' cy='150' r='70' /&gt;&#10;        &lt;circle cx='1040' cy='150' r='110' opacity='0.5' /&gt;&#10;        &lt;circle cx='1040' cy='150' r='150' opacity='0.3' /&gt;&#10;      &lt;/g&gt;&#10;      &lt;g fill='#08A6F6'&gt;&#10;        &lt;circle cx='760' cy='220' r='5' /&gt;&#10;        &lt;circle cx='1000' cy='220' r='5' /&gt;&#10;        &lt;circle cx='760' cy='440' r='5' /&gt;&#10;        &lt;circle cx='1000' cy='440' r='5' /&gt;&#10;        &lt;circle cx='1040' cy='150' r='6' /&gt;&#10;      &lt;/g&gt;&#10;      &lt;g stroke='#99BDED' strokeWidth='1' opacity='0.6'&gt;&#10;        &lt;line x1='1040' y1='40' x2='1040' y2='90' /&gt;&#10;        &lt;line x1='1190' y1='150' x2='1240' y2='150' /&gt;&#10;        &lt;line x1='1040' y1='300' x2='1040' y2='350' /&gt;&#10;      &lt;/g&gt;&#10;    &lt;/svg&gt;&#10;&#10;    {/* 左上品牌标 */}&#10;    &lt;Box style={{ position: 'absolute', top: 60, left: 60, flexDirection: 'row', alignItems: 'center', gap: 12 }}&gt;&#10;      &lt;svg width={28} height={28} viewBox='0 0 28 28'&gt;&#10;        &lt;rect x='0' y='0' width='28' height='28' rx='4' fill='#08A6F6' /&gt;&#10;        &lt;path d='M8 20 L14 6 L20 20 M10 15 L18 15' stroke='#061F32' strokeWidth='2' fill='none' strokeLinecap='round' /&gt;&#10;      &lt;/svg&gt;&#10;      &lt;Text style={{ fontSize: 18, color: '#99BDED', letterSpacing: 2 }}&gt;DIGITAL TALENT PLATFORM&lt;/Text&gt;&#10;    &lt;/Box&gt;&#10;&#10;    {/* 主标题区 */}&#10;    &lt;Box style={{ position: 'absolute', left: 60, top: 200, width: 620 }}&gt;&#10;      &lt;Text style={{ fontSize: 22, color: '#08A6F6', fontWeight: 'bold', letterSpacing: 3, marginBottom: 24 }}&gt;项目评审答辩 · 方案汇报&lt;/Text&gt;&#10;      &lt;Text style={{ fontSize: 72, color: '#FFFFFF', fontWeight: 'bold', lineHeight: 1.15, letterSpacing: 1 }}&gt;AI数字化人才平台&lt;/Text&gt;&#10;      &lt;Text style={{ fontSize: 34, color: '#99BDED', fontWeight: 'bold', lineHeight: 1.3, marginTop: 20 }}&gt;企业级 AI 原生人才智能平台&lt;/Text&gt;&#10;    &lt;/Box&gt;&#10;&#10;    {/* 底部关键信息 */}&#10;    &lt;Box style={{ position: 'absolute', left: 60, bottom: 70, flexDirection: 'row', gap: 48 }}&gt;&#10;      &lt;Box style={{ flexDirection: 'column' }}&gt;&#10;        &lt;Text style={{ fontSize: 34, color: '#FFFFFF', fontWeight: 'bold' }}&gt;280&lt;span style={{ fontSize: 18, color: '#99BDED' }}&gt; 万&lt;/span&gt;&lt;/Text&gt;&#10;        &lt;Text style={{ fontSize: 15, color: '#808080', marginTop: 6 }}&gt;项目预算&lt;/Text&gt;&#10;      &lt;/Box&gt;&#10;      &lt;Box style={{ width: 1, height: 52, background: 'rgba(255,255,255,0.2)' }} /&gt;&#10;      &lt;Box style={{ flexDirection: 'column' }}&gt;&#10;        &lt;Text style={{ fontSize: 34, color: '#FFFFFF', fontWeight: 'bold' }}&gt;7&lt;span style={{ fontSize: 18, color: '#99BDED' }}&gt; 天&lt;/span&gt;&lt;/Text&gt;&#10;        &lt;Text style={{ fontSize: 15, color: '#808080', marginTop: 6 }}&gt;开发上线&lt;/Text&gt;&#10;      &lt;/Box&gt;&#10;      &lt;Box style={{ width: 1, height: 52, background: 'rgba(255,255,255,0.2)' }} /&gt;&#10;      &lt;Box style={{ flexDirection: 'column' }}&gt;&#10;        &lt;Text style={{ fontSize: 34, color: '#FFFFFF', fontWeight: 'bold' }}&gt;13&lt;span style={{ fontSize: 18, color: '#99BDED' }}&gt; 项&lt;/span&gt;&lt;/Text&gt;&#10;        &lt;Text style={{ fontSize: 15, color: '#808080', marginTop: 6 }}&gt;P0 核心能力&lt;/Text&gt;&#10;      &lt;/Box&gt;&#10;      &lt;Box style={{ width: 1, height: 52, background: 'rgba(255,255,255,0.2)' }} /&gt;&#10;      &lt;Box style={{ flexDirection: 'column' }}&gt;&#10;        &lt;Text style={{ fontSize: 34, color: '#FFFFFF', fontWeight: 'bold' }}&gt;100&lt;span style={{ fontSize: 18, color: '#99BDED' }}&gt; %&lt;/span&gt;&lt;/Text&gt;&#10;        &lt;Text style={{ fontSize: 15, color: '#808080', marginTop: 6 }}&gt;P0+P1 完成&lt;/Text&gt;&#10;      &lt;/Box&gt;&#10;    &lt;/Box&gt;&#10;&#10;    {/* 底部右侧汇报信息 */}&#10;    &lt;Box style={{ position: 'absolute', right: 60, bottom: 70, alignItems: 'flex-end' }}&gt;&#10;      &lt;Text style={{ fontSize: 16, color: '#99BDED', marginBottom: 6 }}&gt;汇报人：Hayson · 项目负责人&lt;/Text&gt;&#10;      &lt;Text style={{ fontSize: 15, color: '#808080' }}&gt;2026 年 9 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60000">
                <a:srgbClr val="0A2E4A"/>
              </a:gs>
              <a:gs pos="100000">
                <a:srgbClr val="0E3A5C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571500"/>
            <a:ext cx="266700" cy="266700"/>
          </a:xfrm>
          <a:prstGeom prst="rect">
            <a:avLst/>
          </a:prstGeom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952500" y="600075"/>
            <a:ext cx="2771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DIGITAL TALENT PLATFORM</a:t>
            </a:r>
            <a:endParaRPr lang="en-US" sz="1350" spc="150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71500" y="1905000"/>
            <a:ext cx="5905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项目评审答辩</a:t>
            </a:r>
            <a:r>
              <a:rPr lang="en-US" sz="165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方案汇报</a:t>
            </a:r>
            <a:endParaRPr lang="zh-CN" sz="1650" b="1" spc="22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71500" y="2390775"/>
            <a:ext cx="5905500" cy="952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540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540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数字化人才平台</a:t>
            </a:r>
            <a:endParaRPr lang="zh-CN" sz="5400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71500" y="3533775"/>
            <a:ext cx="5905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企业级</a:t>
            </a:r>
            <a:r>
              <a:rPr lang="en-US" sz="25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5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原生人才智能平台</a:t>
            </a:r>
            <a:endParaRPr lang="zh-CN" sz="2550" b="1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571500" y="5572125"/>
            <a:ext cx="8286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280</a:t>
            </a:r>
            <a:r>
              <a:rPr lang="en-US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zh-CN" sz="1350" b="1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571500" y="6019800"/>
            <a:ext cx="828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项目预算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57375" y="5572125"/>
            <a:ext cx="9525" cy="4953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2324100" y="5572125"/>
            <a:ext cx="571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en-US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sz="1350" b="1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2324100" y="60198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开发上线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52800" y="5572125"/>
            <a:ext cx="9525" cy="4953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3819525" y="5572125"/>
            <a:ext cx="7905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endParaRPr lang="zh-CN" sz="1350" b="1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3819525" y="6019800"/>
            <a:ext cx="7905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P0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7300" y="5572125"/>
            <a:ext cx="9525" cy="4953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5534025" y="5572125"/>
            <a:ext cx="8191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en-US" sz="1350" b="1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%</a:t>
            </a:r>
            <a:endParaRPr lang="en-US" sz="1350" b="1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534025" y="6019800"/>
            <a:ext cx="819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P0+P1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0237470" y="5772150"/>
            <a:ext cx="2047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altLang="en-US" sz="120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沃林吴彦</a:t>
            </a:r>
            <a:r>
              <a:rPr lang="zh-CN" altLang="en-US" sz="120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altLang="en-US" sz="1200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0782300" y="6019800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" descr="&lt;Slide notes={`整份汇报我分为五个部分。&#10;&#10;第一章讲项目背景和建设目标，让各位了解我们为什么做、要做到什么程度。第二章是总体架构和技术选型，讲清楚技术底座怎么搭。第三章是核心能力，重点讲五大智能体和十三项 P0 功能。第四章用实测数据回答&quot;质量到底怎么样&quot;。第五章汇报交付成果和后续规划。&#10;&#10;其中第三、四章是重点，我建议各位评委可以重点关注。`}&gt;&#10;  &lt;Box style={{ width: 1280, height: 720, background: '#FFFFFF', padding: '44 60 60 60' }}&gt;&#10;    {/* B 标题块 */}&#10;    &lt;Box style={{ marginBottom: 8 }}&gt;&#10;      &lt;Text style={{ fontSize: 34, color: '#061F32', fontWeight: 'bold', lineHeight: 1.3 }}&gt;汇报目录&lt;/Text&gt;&#10;      &lt;Text style={{ fontSize: 16, color: '#808080', marginTop: 4 }}&gt;五个章节 · 从背景到交付的完整闭环&lt;/Text&gt;&#10;    &lt;/Box&gt;&#10;    &lt;Box style={{ width: 1160, height: 1, background: '#061F32', marginBottom: 28 }} /&gt;&#10;&#10;    {/* 目录条目：5 章 */}&#10;    &lt;Box style={{ flexDirection: 'column', gap: 0, flex: 1, justifyContent: 'space-between' }}&gt;&#10;      {[&#10;        { no: '01', title: '项目概况', sub: '背景·目标·团队', desc: '为什么做、目标是什么、6 人团队分工与 7 天交付的挑战' },&#10;        { no: '02', title: '总体设计', sub: '架构与技术选型', desc: '六层架构与四库混合存储的技术底座，LLM 三层降级策略' },&#10;        { no: '03', title: '核心能力', sub: '五大智能体与功能', desc: '五大专属 Agent、13 项 P0 功能、RAG 与 NL2SQL 智能决策' },&#10;        { no: '04', title: '质量验证', sub: '测试与性能实测', desc: '78 测试全绿、覆盖率 85%、延迟与精度关键指标实测' },&#10;        { no: '05', title: '交付展望', sub: '成果与后续规划', desc: '验收交付物、安全合规与国产化、P2 边界与演进方向' },&#10;      ].map((item, idx) =&gt; (&#10;        &lt;Box key={idx} style={{ flexDirection: 'row', alignItems: 'center', padding: '16 0', borderBottom: idx === 4 ? 'none' : '1px solid #E7E6E6' }}&gt;&#10;          &lt;Text style={{ fontSize: 48, color: idx === 0 ? '#08A6F6' : '#99BDED', fontWeight: 'bold', width: 110, letterSpacing: 1 }}&gt;{item.no}&lt;/Text&gt;&#10;          &lt;Box style={{ width: 1, height: 44, background: '#E7E6E6', marginRight: 24 }} /&gt;&#10;          &lt;Box style={{ width: 220 }}&gt;&#10;            &lt;Text style={{ fontSize: 28, color: '#061F32', fontWeight: 'bold' }}&gt;{item.title}&lt;/Text&gt;&#10;            &lt;Text style={{ fontSize: 16, color: '#08A6F6', marginTop: 2 }}&gt;{item.sub}&lt;/Text&gt;&#10;          &lt;/Box&gt;&#10;          &lt;Text style={{ fontSize: 20, color: '#44546A', flex: 1, lineHeight: 1.5 }}&gt;{item.desc}&lt;/Text&gt;&#10;        &lt;/Box&gt;&#10;      ))}&#10;    &lt;/Box&gt;&#10;&#10;    {/* 页脚 */}&#10;    &lt;Box style={{ flexDirection: 'row', justifyContent: 'space-between', alignItems: 'center', marginTop: 20 }}&gt;&#10;      &lt;Text style={{ fontSize: 14, color: '#808080' }}&gt;AI数字化人才平台 · 项目评审答辩&lt;/Text&gt;&#10;      &lt;Text style={{ fontSize: 14, color: '#808080' }}&gt;02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矩形 2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571500" y="419100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汇报目录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571500" y="971550"/>
            <a:ext cx="1104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五个章节</a:t>
            </a:r>
            <a:r>
              <a:rPr lang="en-US" sz="12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从背景到交付的完整闭环</a:t>
            </a:r>
            <a:endParaRPr lang="zh-CN" sz="120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矩形 289"/>
          <p:cNvSpPr/>
          <p:nvPr/>
        </p:nvSpPr>
        <p:spPr>
          <a:xfrm>
            <a:off x="571500" y="1238250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291" name="任意多边形 290"/>
          <p:cNvSpPr/>
          <p:nvPr/>
        </p:nvSpPr>
        <p:spPr>
          <a:xfrm>
            <a:off x="571500" y="1514475"/>
            <a:ext cx="11049000" cy="876300"/>
          </a:xfrm>
          <a:custGeom>
            <a:avLst/>
            <a:gdLst/>
            <a:ahLst/>
            <a:cxnLst/>
            <a:pathLst>
              <a:path w="1160" h="92">
                <a:moveTo>
                  <a:pt x="0" y="91"/>
                </a:moveTo>
                <a:lnTo>
                  <a:pt x="1160" y="91"/>
                </a:lnTo>
                <a:lnTo>
                  <a:pt x="116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p/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571500" y="1666875"/>
            <a:ext cx="10477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 spc="7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3600" b="1" spc="7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矩形 292"/>
          <p:cNvSpPr/>
          <p:nvPr/>
        </p:nvSpPr>
        <p:spPr>
          <a:xfrm>
            <a:off x="1619250" y="1733550"/>
            <a:ext cx="9525" cy="419100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1857375" y="1676400"/>
            <a:ext cx="209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项目概况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857375" y="2019300"/>
            <a:ext cx="2095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背景·目标·团队</a:t>
            </a:r>
            <a:endParaRPr lang="zh-CN" sz="1200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3952875" y="1771650"/>
            <a:ext cx="76676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为什么做、目标是什么、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人团队分工与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天交付的挑战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任意多边形 296"/>
          <p:cNvSpPr/>
          <p:nvPr/>
        </p:nvSpPr>
        <p:spPr>
          <a:xfrm>
            <a:off x="571500" y="2409825"/>
            <a:ext cx="11049000" cy="876300"/>
          </a:xfrm>
          <a:custGeom>
            <a:avLst/>
            <a:gdLst/>
            <a:ahLst/>
            <a:cxnLst/>
            <a:pathLst>
              <a:path w="1160" h="92">
                <a:moveTo>
                  <a:pt x="0" y="91"/>
                </a:moveTo>
                <a:lnTo>
                  <a:pt x="1160" y="91"/>
                </a:lnTo>
                <a:lnTo>
                  <a:pt x="116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571500" y="2562225"/>
            <a:ext cx="10477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3600" b="1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1619250" y="2628900"/>
            <a:ext cx="9525" cy="419100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1857375" y="2571750"/>
            <a:ext cx="209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总体设计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1857375" y="2914650"/>
            <a:ext cx="2095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架构与技术选型</a:t>
            </a:r>
            <a:endParaRPr lang="zh-CN" sz="1200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3952875" y="2667000"/>
            <a:ext cx="76676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六层架构与四库混合存储的技术底座，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三层降级策略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任意多边形 302"/>
          <p:cNvSpPr/>
          <p:nvPr/>
        </p:nvSpPr>
        <p:spPr>
          <a:xfrm>
            <a:off x="571500" y="3295650"/>
            <a:ext cx="11049000" cy="876300"/>
          </a:xfrm>
          <a:custGeom>
            <a:avLst/>
            <a:gdLst/>
            <a:ahLst/>
            <a:cxnLst/>
            <a:pathLst>
              <a:path w="1160" h="92">
                <a:moveTo>
                  <a:pt x="0" y="91"/>
                </a:moveTo>
                <a:lnTo>
                  <a:pt x="1160" y="91"/>
                </a:lnTo>
                <a:lnTo>
                  <a:pt x="116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p/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571500" y="3448050"/>
            <a:ext cx="10477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3600" b="1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1619250" y="3514725"/>
            <a:ext cx="9525" cy="419100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857375" y="3457575"/>
            <a:ext cx="209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1857375" y="3800475"/>
            <a:ext cx="2095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五大智能体与功能</a:t>
            </a:r>
            <a:endParaRPr lang="zh-CN" sz="1200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3952875" y="3552825"/>
            <a:ext cx="76676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五大专属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P0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功能、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NL2SQL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智能决策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任意多边形 308"/>
          <p:cNvSpPr/>
          <p:nvPr/>
        </p:nvSpPr>
        <p:spPr>
          <a:xfrm>
            <a:off x="571500" y="4191000"/>
            <a:ext cx="11049000" cy="876300"/>
          </a:xfrm>
          <a:custGeom>
            <a:avLst/>
            <a:gdLst/>
            <a:ahLst/>
            <a:cxnLst/>
            <a:pathLst>
              <a:path w="1160" h="92">
                <a:moveTo>
                  <a:pt x="0" y="91"/>
                </a:moveTo>
                <a:lnTo>
                  <a:pt x="1160" y="91"/>
                </a:lnTo>
                <a:lnTo>
                  <a:pt x="116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7E6E6"/>
          </a:solidFill>
        </p:spPr>
        <p:txBody>
          <a:bodyPr/>
          <a:p/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571500" y="4343400"/>
            <a:ext cx="10477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3600" b="1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1619250" y="4410075"/>
            <a:ext cx="9525" cy="419100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1857375" y="4352925"/>
            <a:ext cx="209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质量验证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1857375" y="4695825"/>
            <a:ext cx="2095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测试与性能实测</a:t>
            </a:r>
            <a:endParaRPr lang="zh-CN" sz="1200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3952875" y="4448175"/>
            <a:ext cx="76676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78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测试全绿、覆盖率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85%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、延迟与精度关键指标实测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571500" y="5229225"/>
            <a:ext cx="10477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3600" b="1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矩形 315"/>
          <p:cNvSpPr/>
          <p:nvPr/>
        </p:nvSpPr>
        <p:spPr>
          <a:xfrm>
            <a:off x="1619250" y="5295900"/>
            <a:ext cx="9525" cy="419100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1857375" y="5238750"/>
            <a:ext cx="209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交付展望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857375" y="5581650"/>
            <a:ext cx="2095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成果与后续规划</a:t>
            </a:r>
            <a:endParaRPr lang="zh-CN" sz="1200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3952875" y="5334000"/>
            <a:ext cx="76676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验收交付物、安全合规与国产化、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P2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边界与演进方向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571500" y="6124575"/>
            <a:ext cx="1981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数字化人才平台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项目评审答辩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02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" descr="&lt;Slide notes={`我们先进入第一章，项目概况。&#10;&#10;这一章回答两个问题：第一，这个平台是为什么场景、解决什么痛点而建的；第二，我们的建设目标是什么，验收的标准线在哪。`}&gt;&#10;  &lt;Box style={{ width: 1280, height: 720, background: 'linear-gradient(135deg, #061F32 0%, #0A2E4A 100%)', padding: 60, position: 'relative', overflow: 'hidden' }}&gt;&#10;    {/* 巨字编号 */}&#10;    &lt;Text style={{ position: 'absolute', left: 40, top: 120, fontSize: 260, fontWeight: 'bold', color: 'rgba(255,255,255,0.08)', lineHeight: 1 }}&gt;01&lt;/Text&gt;&#10;&#10;    {/* 右侧章节标题 */}&#10;    &lt;Box style={{ position: 'absolute', left: 320, top: 260 }}&gt;&#10;      &lt;Text style={{ fontSize: 20, color: '#08A6F6', fontWeight: 'bold', letterSpacing: 3, marginBottom: 20 }}&gt;CHAPTER 01&lt;/Text&gt;&#10;      &lt;Text style={{ fontSize: 52, color: '#FFFFFF', fontWeight: 'bold', lineHeight: 1.2 }}&gt;项目概况&lt;/Text&gt;&#10;      &lt;Text style={{ fontSize: 24, color: '#99BDED', marginTop: 20, letterSpacing: 1 }}&gt;背景与建设目标 · 项目背景与建设目标&lt;/Text&gt;&#10;    &lt;/Box&gt;&#10;&#10;    {/* 底部装饰线 */}&#10;    &lt;Box style={{ position: 'absolute', left: 320, bottom: 120, width: 80, height: 3, background: '#08A6F6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矩形 3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100000">
                <a:srgbClr val="0A2E4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381000" y="1143000"/>
            <a:ext cx="3057525" cy="297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9500" b="1">
              <a:solidFill>
                <a:srgbClr val="FFFFFF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3048000" y="2476500"/>
            <a:ext cx="40290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CHAPTER 01</a:t>
            </a:r>
            <a:endParaRPr lang="en-US" sz="1500" b="1" spc="22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3048000" y="2895600"/>
            <a:ext cx="4029075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项目概况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3048000" y="3800475"/>
            <a:ext cx="4029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背景与建设目标</a:t>
            </a:r>
            <a:r>
              <a:rPr lang="en-US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项目背景与建设目标</a:t>
            </a:r>
            <a:endParaRPr lang="zh-CN" sz="1800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3048000" y="5686425"/>
            <a:ext cx="762000" cy="28575"/>
          </a:xfrm>
          <a:prstGeom prst="rect">
            <a:avLst/>
          </a:prstGeom>
          <a:solidFill>
            <a:srgbClr val="08A6F6"/>
          </a:solid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" descr="&lt;Slide notes={`这一页讲项目的背景和建设目标。&#10;&#10;先说背景。传统人才管理面临三个痛点：一是人才档案分散、信息不统一；二是人才与岗位匹配靠人工经验，效率低、主观性强；三是培训和测评缺乏数据支撑，难以形成闭环。所以我们要建一个 AI 原生的人才智能平台，用大模型和向量检索把人才数据真正用起来。&#10;&#10;再说目标。预算 280 万，7 天开发上线加 4 天验收。这个周期意味着我们不能从零堆砌，必须走&quot;成熟架构复用加三线程并行&quot;的路径——后端、前端、测试三条线同时推进。&#10;&#10;验收的关键是 P0 的十三项能力，这些是我们承诺必须完成的，缺一项都过不了验收。`}&gt;&#10;  &lt;Box style={{ width: 1280, height: 720, background: '#FFFFFF', padding: '44 60 60 60' }}&gt;&#10;    {/* A 页眉 */}&#10;    &lt;Box style={{ flexDirection: 'row', justifyContent: 'flex-end', marginBottom: 0 }}&gt;&#10;      &lt;Text style={{ fontSize: 14, color: '#808080' }}&gt;01 · 项目概况&lt;/Text&gt;&#10;    &lt;/Box&gt;&#10;&#10;    {/* B 标题块 */}&#10;    &lt;Box style={{ marginBottom: 8 }}&gt;&#10;      &lt;Text style={{ fontSize: 34, color: '#061F32', fontWeight: 'bold', lineHeight: 1.3 }}&gt;从人才分散管理到 AI 原生智能闭环&lt;/Text&gt;&#10;    &lt;/Box&gt;&#10;    &lt;Box style={{ width: 1160, height: 1, background: '#061F32', marginBottom: 28 }} /&gt;&#10;&#10;    {/* C 内容区：左标题+右内容（非对称） */}&#10;    &lt;Box style={{ flexDirection: 'row', flex: 1, gap: 48 }}&gt;&#10;      {/* 左侧：大数字锚点 */}&#10;      &lt;Box style={{ width: 320, flexDirection: 'column', justifyContent: 'center' }}&gt;&#10;        &lt;Box style={{ flexDirection: 'column', marginBottom: 36 }}&gt;&#10;          &lt;Text style={{ fontSize: 88, color: '#08A6F6', fontWeight: 'bold', lineHeight: 1 }}&gt;280&lt;span style={{ fontSize: 28 }}&gt; 万&lt;/span&gt;&lt;/Text&gt;&#10;          &lt;Text style={{ fontSize: 18, color: '#44546A', marginTop: 10 }}&gt;项目预算 · 企业级投入&lt;/Text&gt;&#10;        &lt;/Box&gt;&#10;        &lt;Box style={{ flexDirection: 'column', marginBottom: 36 }}&gt;&#10;          &lt;Text style={{ fontSize: 88, color: '#061F32', fontWeight: 'bold', lineHeight: 1 }}&gt;7&lt;span style={{ fontSize: 28 }}&gt; 天&lt;/span&gt;&lt;/Text&gt;&#10;          &lt;Text style={{ fontSize: 18, color: '#44546A', marginTop: 10 }}&gt;开发上线 + 4 日验收&lt;/Text&gt;&#10;        &lt;/Box&gt;&#10;        &lt;Box style={{ flexDirection: 'column' }}&gt;&#10;          &lt;Text style={{ fontSize: 88, color: '#061F32', fontWeight: 'bold', lineHeight: 1 }}&gt;13&lt;span style={{ fontSize: 28 }}&gt; 项&lt;/span&gt;&lt;/Text&gt;&#10;          &lt;Text style={{ fontSize: 18, color: '#44546A', marginTop: 10 }}&gt;P0 核心能力（首次验收必须）&lt;/Text&gt;&#10;        &lt;/Box&gt;&#10;      &lt;/Box&gt;&#10;&#10;      {/* 右侧：背景 + 目标 */}&#10;      &lt;Box style={{ flex: 1, flexDirection: 'column', justifyContent: 'center', gap: 28 }}&gt;&#10;        &lt;Box style={{ padding: '20 24', background: 'rgba(6,31,50,0.04)', borderRadius: 6, borderLeft: '3px solid #08A6F6' }}&gt;&#10;          &lt;Text style={{ fontSize: 24, color: '#061F32', fontWeight: 'bold', marginBottom: 12 }}&gt;建设背景 · 三大痛点&lt;/Text&gt;&#10;          &lt;Text style={{ fontSize: 20, color: '#44546A', lineHeight: 1.55 }}&gt;&#10;            ① 人才档案分散、信息孤岛，缺乏统一画像；&lt;br /&gt;&#10;            ② 人岗匹配依赖人工经验，效率低、主观性强；&lt;br /&gt;&#10;            ③ 测评培训缺乏数据闭环，难以量化人才价值。&#10;          &lt;/Text&gt;&#10;        &lt;/Box&gt;&#10;        &lt;Box style={{ padding: '20 24', background: 'rgba(6,31,50,0.04)', borderRadius: 6, borderLeft: '3px solid #061F32' }}&gt;&#10;          &lt;Text style={{ fontSize: 24, color: '#061F32', fontWeight: 'bold', marginBottom: 12 }}&gt;建设目标 · 一站式闭环&lt;/Text&gt;&#10;          &lt;Text style={{ fontSize: 20, color: '#44546A', lineHeight: 1.55 }}&gt;&#10;            以 AI 为核心，打通「档案 → 测评 → 匹配 → 培训 → 决策」全链路，&lt;br /&gt;&#10;            实现人才数据的语义化检索、智能化匹配与可视化决策。&#10;          &lt;/Text&gt;&#10;        &lt;/Box&gt;&#10;      &lt;/Box&gt;&#10;    &lt;/Box&gt;&#10;&#10;    {/* D 页脚 */}&#10;    &lt;Box style={{ flexDirection: 'row', justifyContent: 'space-between', alignItems: 'center', marginTop: 20 }}&gt;&#10;      &lt;Text style={{ fontSize: 14, color: '#808080' }}&gt;来源：项目招标技术需求 · P0 功能清单&lt;/Text&gt;&#10;      &lt;Text style={{ fontSize: 14, color: '#808080' }}&gt;04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矩形 3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项目概况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从人才分散管理到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原生智能闭环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571500" y="1447800"/>
            <a:ext cx="3048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280</a:t>
            </a:r>
            <a:r>
              <a:rPr lang="en-US" sz="21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1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zh-CN" sz="21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571500" y="2552700"/>
            <a:ext cx="3048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项目预算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企业级投入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571500" y="3105150"/>
            <a:ext cx="3048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en-US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571500" y="4210050"/>
            <a:ext cx="3048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开发上线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+ 4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日验收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571500" y="4762500"/>
            <a:ext cx="3048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1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endParaRPr lang="zh-CN" sz="21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571500" y="5867400"/>
            <a:ext cx="3048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P0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核心能力（首次验收必须）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4105275" y="1971675"/>
            <a:ext cx="7543800" cy="1838325"/>
          </a:xfrm>
          <a:prstGeom prst="roundRect">
            <a:avLst>
              <a:gd name="adj" fmla="val 3109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350" name="任意多边形 349"/>
          <p:cNvSpPr/>
          <p:nvPr/>
        </p:nvSpPr>
        <p:spPr>
          <a:xfrm>
            <a:off x="4105275" y="1971675"/>
            <a:ext cx="7543800" cy="1838325"/>
          </a:xfrm>
          <a:custGeom>
            <a:avLst/>
            <a:gdLst/>
            <a:ahLst/>
            <a:cxnLst/>
            <a:pathLst>
              <a:path w="792" h="193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90"/>
                </a:lnTo>
                <a:cubicBezTo>
                  <a:pt x="3" y="191"/>
                  <a:pt x="4" y="193"/>
                  <a:pt x="5" y="193"/>
                </a:cubicBezTo>
                <a:cubicBezTo>
                  <a:pt x="2" y="193"/>
                  <a:pt x="0" y="190"/>
                  <a:pt x="0" y="18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4333875" y="2162175"/>
            <a:ext cx="70580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建设背景</a:t>
            </a: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三大痛点</a:t>
            </a:r>
            <a:endParaRPr lang="zh-CN" sz="18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4333875" y="2552700"/>
            <a:ext cx="7058025" cy="1066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人才档案分散、信息孤岛，缺乏统一画像；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人岗匹配依赖人工经验，效率低、主观性强；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测评培训缺乏数据闭环，难以量化人才价值。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4105275" y="4076700"/>
            <a:ext cx="7543800" cy="1485900"/>
          </a:xfrm>
          <a:prstGeom prst="roundRect">
            <a:avLst>
              <a:gd name="adj" fmla="val 384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354" name="任意多边形 353"/>
          <p:cNvSpPr/>
          <p:nvPr/>
        </p:nvSpPr>
        <p:spPr>
          <a:xfrm>
            <a:off x="4105275" y="4076700"/>
            <a:ext cx="7543800" cy="1485900"/>
          </a:xfrm>
          <a:custGeom>
            <a:avLst/>
            <a:gdLst/>
            <a:ahLst/>
            <a:cxnLst/>
            <a:pathLst>
              <a:path w="792" h="1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53"/>
                </a:lnTo>
                <a:cubicBezTo>
                  <a:pt x="3" y="154"/>
                  <a:pt x="4" y="156"/>
                  <a:pt x="5" y="156"/>
                </a:cubicBezTo>
                <a:cubicBezTo>
                  <a:pt x="2" y="156"/>
                  <a:pt x="0" y="153"/>
                  <a:pt x="0" y="1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4333875" y="4267200"/>
            <a:ext cx="70580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建设目标</a:t>
            </a: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一站式闭环</a:t>
            </a:r>
            <a:endParaRPr lang="zh-CN" sz="18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4333875" y="4657725"/>
            <a:ext cx="7058025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为核心，打通「档案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测评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匹配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培训</a:t>
            </a:r>
            <a:r>
              <a:rPr lang="en-US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决策」全链路，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zh-CN" sz="15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实现人才数据的语义化检索、智能化匹配与可视化决策。</a:t>
            </a:r>
            <a:endParaRPr lang="zh-CN" sz="15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571500" y="6267450"/>
            <a:ext cx="2314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来源：项目招标技术需求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· P0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功能清单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1163300" y="626745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04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 descr="&lt;Slide notes={`这一页讲清楚我们的建设范围，也就是&quot;完成了什么、没做什么&quot;，这体现工程诚信。&#10;&#10;左边是十三项 P0 功能，这是首次验收必须完成的能力，从人才档案、智能测评、岗位匹配、培训赋能，到决策看板、NL2SQL 数据决策、RAG 知识库问答，再到五大智能体、技能组件库、权限管控、移动端适配、数据迁移和国产化部署。这十三项我们全部落地。&#10;&#10;右边是 P2 阶段的环境依赖项。这里我要特别说明：2000 并发压测、国产化 arm64 实跑、移动端真机适配、生产容器全量部署，这四项不是代码没写，而是需要特定的生产环境或真机硬件才能验证，本机 x64 无法实测。所以我们诚实标记为&quot;待验证&quot;，不虚标完成。&#10;&#10;这个边界对评审很关键——我们把&quot;已完成且经实测&quot;和&quot;已实现但待环境验证&quot;分得很清楚。`}&gt;&#10;  &lt;Box style={{ width: 1280, height: 720, background: '#FFFFFF', padding: '44 60 60 60' }}&gt;&#10;    &lt;Box style={{ flexDirection: 'row', justifyContent: 'flex-end', marginBottom: 0 }}&gt;&#10;      &lt;Text style={{ fontSize: 14, color: '#808080' }}&gt;01 · 项目概况&lt;/Text&gt;&#10;    &lt;/Box&gt;&#10;    &lt;Box style={{ marginBottom: 8 }}&gt;&#10;      &lt;Text style={{ fontSize: 34, color: '#061F32', fontWeight: 'bold', lineHeight: 1.3 }}&gt;建设范围：13 项 P0 全部落地，P2 明确边界&lt;/Text&gt;&#10;    &lt;/Box&gt;&#10;    &lt;Box style={{ width: 1160, height: 1, background: '#061F32', marginBottom: 24 }} /&gt;&#10;&#10;    &lt;Box style={{ flexDirection: 'row', flex: 1, gap: 40 }}&gt;&#10;      {/* 左栏：P0 功能 */}&#10;      &lt;Box style={{ flex: 6, flexDirection: 'column' }}&gt;&#10;        &lt;Text style={{ fontSize: 24, color: '#061F32', fontWeight: 'bold', marginBottom: 16 }}&gt;P0 · 首次验收必须完成（13 项 ✅）&lt;/Text&gt;&#10;        &lt;Box style={{ flexDirection: 'column', gap: 10, flex: 1, justifyContent: 'space-between' }}&gt;&#10;          {[&#10;            ['人才智能档案管理', 'AI简历解析·智能标签·画像·语义检索'],&#10;            ['AI智能测评与评估', '多类型测评·自动评分·能力雷达图'],&#10;            ['AI岗位人才匹配', '双向精准匹配·分值·依据可视化'],&#10;            ['数字化智能培训', '课程库·个性化推送·学习管控'],&#10;            ['数据可视化决策看板', '核心数据可视化·多维统计'],&#10;            ['自然语言数据决策', 'NL2SQL·自动研判·智能报告'],&#10;            ['人才RAG问答知识库', '私有化知识库·精准问答'],&#10;            ['AI Agent多智能体', '五大专属智能体协同'],&#10;            ['Skills技能组件库', '组件封装·可视化编排'],&#10;            ['权限安全管控', 'RBAC+行级+字段级权限'],&#10;            ['移动端适配', 'PC端+移动端H5/小程序'],&#10;            ['数据迁移与对接', '历史迁移·第三方对接'],&#10;            ['部署与国产化适配', 'Docker部署·国产化兼容'],&#10;          ].map((item, idx) =&gt; (&#10;            &lt;Box key={idx} style={{ flexDirection: 'row', alignItems: 'center', gap: 14 }}&gt;&#10;              &lt;Box style={{ width: 22, height: 22, borderRadius: 4, background: '#08A6F6', justifyContent: 'center', alignItems: 'center' }}&gt;&#10;                &lt;Text style={{ fontSize: 13, color: '#FFFFFF', fontWeight: 'bold' }}&gt;✓&lt;/Text&gt;&#10;              &lt;/Box&gt;&#10;              &lt;Text style={{ fontSize: 19, color: '#061F32', fontWeight: 'bold', width: 190 }}&gt;{item[0]}&lt;/Text&gt;&#10;              &lt;Text style={{ fontSize: 17, color: '#44546A', flex: 1 }}&gt;{item[1]}&lt;/Text&gt;&#10;            &lt;/Box&gt;&#10;          ))}&#10;        &lt;/Box&gt;&#10;      &lt;/Box&gt;&#10;&#10;      {/* 右栏：P2 边界 */}&#10;      &lt;Box style={{ flex: 4, flexDirection: 'column', background: 'rgba(6,31,50,0.04)', borderRadius: 6, padding: 20 }}&gt;&#10;        &lt;Text style={{ fontSize: 22, color: '#061F32', fontWeight: 'bold', marginBottom: 14 }}&gt;P2 · 环境依赖项（待验证）&lt;/Text&gt;&#10;        &lt;Box style={{ flexDirection: 'column', gap: 16 }}&gt;&#10;          {[&#10;            ['2000 并发压测', '需生产 GPU / 多 worker'],&#10;            ['国产化 arm64 实跑', '需麒麟/统信 + 鲲鹏/飞腾'],&#10;            ['移动端真机适配', '需 Android / iOS 真机'],&#10;            ['生产容器全量部署', '需生产级环境实测'],&#10;          ].map((item, idx) =&gt; (&#10;            &lt;Box key={idx} style={{ padding: '14 16', background: '#FFFFFF', borderRadius: 4, borderLeft: '3px solid #99BDED' }}&gt;&#10;              &lt;Text style={{ fontSize: 19, color: '#061F32', fontWeight: 'bold' }}&gt;{item[0]}&lt;/Text&gt;&#10;              &lt;Text style={{ fontSize: 15, color: '#808080', marginTop: 4 }}&gt;{item[1]}&lt;/Text&gt;&#10;            &lt;/Box&gt;&#10;          ))}&#10;        &lt;/Box&gt;&#10;        &lt;Box style={{ marginTop: 'auto', paddingTop: 16 }}&gt;&#10;          &lt;Text style={{ fontSize: 16, color: '#44546A', lineHeight: 1.5, fontStyle: 'italic' }}&gt;&#10;            「代码已实现，仅环境受限无法实测，不阻塞验收签字」&#10;          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PROJECT_PROGRESS.md · P0/P1/P2 状态表&lt;/Text&gt;&#10;      &lt;Text style={{ fontSize: 14, color: '#808080' }}&gt;05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矩形 3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项目概况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建设范围：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P0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全部落地，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P2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明确边界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矩形 362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571500" y="1409700"/>
            <a:ext cx="6400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P0 ·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首次验收必须完成（</a:t>
            </a: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✅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8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571500" y="18478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619125" y="187642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914400" y="183832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人才智能档案管理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2857500" y="184785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简历解析·智能标签·画像·语义检索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571500" y="21717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619125" y="220027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914400" y="21621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智能测评与评估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2857500" y="217170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多类型测评·自动评分·能力雷达图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571500" y="24955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619125" y="252412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914400" y="248602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岗位人才匹配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2857500" y="249555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双向精准匹配·分值·依据可视化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圆角矩形 376"/>
          <p:cNvSpPr/>
          <p:nvPr/>
        </p:nvSpPr>
        <p:spPr>
          <a:xfrm>
            <a:off x="571500" y="28194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19125" y="284797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914400" y="28098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数字化智能培训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2857500" y="281940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课程库·个性化推送·学习管控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圆角矩形 380"/>
          <p:cNvSpPr/>
          <p:nvPr/>
        </p:nvSpPr>
        <p:spPr>
          <a:xfrm>
            <a:off x="571500" y="31432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19125" y="317182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914400" y="313372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数据可视化决策看板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2857500" y="314325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核心数据可视化·多维统计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圆角矩形 384"/>
          <p:cNvSpPr/>
          <p:nvPr/>
        </p:nvSpPr>
        <p:spPr>
          <a:xfrm>
            <a:off x="571500" y="34671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619125" y="349567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914400" y="34575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自然语言数据决策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2857500" y="346710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NL2SQL·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自动研判·智能报告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571500" y="37909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619125" y="3819525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914400" y="378142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人才</a:t>
            </a: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问答知识库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2857500" y="3790950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私有化知识库·精准问答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圆角矩形 392"/>
          <p:cNvSpPr/>
          <p:nvPr/>
        </p:nvSpPr>
        <p:spPr>
          <a:xfrm>
            <a:off x="571500" y="41052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619125" y="413385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914400" y="4095750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AI Agent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多智能体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2857500" y="4105275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五大专属智能体协同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圆角矩形 396"/>
          <p:cNvSpPr/>
          <p:nvPr/>
        </p:nvSpPr>
        <p:spPr>
          <a:xfrm>
            <a:off x="571500" y="4429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619125" y="445770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914400" y="4419600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技能组件库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2857500" y="4429125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组件封装·可视化编排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400"/>
          <p:cNvSpPr/>
          <p:nvPr/>
        </p:nvSpPr>
        <p:spPr>
          <a:xfrm>
            <a:off x="571500" y="47529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619125" y="478155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914400" y="4743450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权限安全管控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2857500" y="4752975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RBAC+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行级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字段级权限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571500" y="50768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619125" y="510540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914400" y="5067300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移动端适配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2857500" y="5076825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PC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端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移动端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H5/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小程序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圆角矩形 408"/>
          <p:cNvSpPr/>
          <p:nvPr/>
        </p:nvSpPr>
        <p:spPr>
          <a:xfrm>
            <a:off x="571500" y="54006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619125" y="542925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914400" y="5391150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数据迁移与对接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2857500" y="5400675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历史迁移·第三方对接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圆角矩形 412"/>
          <p:cNvSpPr/>
          <p:nvPr/>
        </p:nvSpPr>
        <p:spPr>
          <a:xfrm>
            <a:off x="571500" y="57245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619125" y="575310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914400" y="5715000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部署与国产化适配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2857500" y="5724525"/>
            <a:ext cx="4114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Docker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部署·国产化兼容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圆角矩形 416"/>
          <p:cNvSpPr/>
          <p:nvPr/>
        </p:nvSpPr>
        <p:spPr>
          <a:xfrm>
            <a:off x="7353300" y="1409700"/>
            <a:ext cx="4267200" cy="4524375"/>
          </a:xfrm>
          <a:prstGeom prst="roundRect">
            <a:avLst>
              <a:gd name="adj" fmla="val 1339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7543800" y="1600200"/>
            <a:ext cx="388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P2 ·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环境依赖项（待验证）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圆角矩形 418"/>
          <p:cNvSpPr/>
          <p:nvPr/>
        </p:nvSpPr>
        <p:spPr>
          <a:xfrm>
            <a:off x="7572375" y="1990725"/>
            <a:ext cx="3886200" cy="695325"/>
          </a:xfrm>
          <a:prstGeom prst="roundRect">
            <a:avLst>
              <a:gd name="adj" fmla="val 5479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20" name="任意多边形 419"/>
          <p:cNvSpPr/>
          <p:nvPr/>
        </p:nvSpPr>
        <p:spPr>
          <a:xfrm>
            <a:off x="7572375" y="1990725"/>
            <a:ext cx="3886200" cy="695325"/>
          </a:xfrm>
          <a:custGeom>
            <a:avLst/>
            <a:gdLst/>
            <a:ahLst/>
            <a:cxnLst/>
            <a:pathLst>
              <a:path w="408" h="7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2"/>
                </a:lnTo>
                <a:cubicBezTo>
                  <a:pt x="3" y="72"/>
                  <a:pt x="3" y="73"/>
                  <a:pt x="4" y="73"/>
                </a:cubicBez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99BDED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7724775" y="2124075"/>
            <a:ext cx="35528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2000 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并发压测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7724775" y="2381250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需生产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GPU /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worker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圆角矩形 422"/>
          <p:cNvSpPr/>
          <p:nvPr/>
        </p:nvSpPr>
        <p:spPr>
          <a:xfrm>
            <a:off x="7572375" y="2838450"/>
            <a:ext cx="3886200" cy="695325"/>
          </a:xfrm>
          <a:prstGeom prst="roundRect">
            <a:avLst>
              <a:gd name="adj" fmla="val 5479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24" name="任意多边形 423"/>
          <p:cNvSpPr/>
          <p:nvPr/>
        </p:nvSpPr>
        <p:spPr>
          <a:xfrm>
            <a:off x="7572375" y="2838450"/>
            <a:ext cx="3886200" cy="695325"/>
          </a:xfrm>
          <a:custGeom>
            <a:avLst/>
            <a:gdLst/>
            <a:ahLst/>
            <a:cxnLst/>
            <a:pathLst>
              <a:path w="408" h="7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2"/>
                </a:lnTo>
                <a:cubicBezTo>
                  <a:pt x="3" y="72"/>
                  <a:pt x="3" y="73"/>
                  <a:pt x="4" y="73"/>
                </a:cubicBez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99BDED"/>
          </a:solidFill>
        </p:spPr>
        <p:txBody>
          <a:bodyPr/>
          <a:p/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7724775" y="2971800"/>
            <a:ext cx="35528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国产化</a:t>
            </a: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arm64 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实跑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7724775" y="3228975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需麒麟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统信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鲲鹏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飞腾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7572375" y="3686175"/>
            <a:ext cx="3886200" cy="695325"/>
          </a:xfrm>
          <a:prstGeom prst="roundRect">
            <a:avLst>
              <a:gd name="adj" fmla="val 5479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28" name="任意多边形 427"/>
          <p:cNvSpPr/>
          <p:nvPr/>
        </p:nvSpPr>
        <p:spPr>
          <a:xfrm>
            <a:off x="7572375" y="3686175"/>
            <a:ext cx="3886200" cy="695325"/>
          </a:xfrm>
          <a:custGeom>
            <a:avLst/>
            <a:gdLst/>
            <a:ahLst/>
            <a:cxnLst/>
            <a:pathLst>
              <a:path w="408" h="7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2"/>
                </a:lnTo>
                <a:cubicBezTo>
                  <a:pt x="3" y="72"/>
                  <a:pt x="3" y="73"/>
                  <a:pt x="4" y="73"/>
                </a:cubicBez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99BDED"/>
          </a:solidFill>
        </p:spPr>
        <p:txBody>
          <a:bodyPr/>
          <a:p/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7724775" y="3819525"/>
            <a:ext cx="35528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移动端真机适配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7724775" y="4076700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Android / iOS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真机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430"/>
          <p:cNvSpPr/>
          <p:nvPr/>
        </p:nvSpPr>
        <p:spPr>
          <a:xfrm>
            <a:off x="7572375" y="4533900"/>
            <a:ext cx="3886200" cy="695325"/>
          </a:xfrm>
          <a:prstGeom prst="roundRect">
            <a:avLst>
              <a:gd name="adj" fmla="val 5479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32" name="任意多边形 431"/>
          <p:cNvSpPr/>
          <p:nvPr/>
        </p:nvSpPr>
        <p:spPr>
          <a:xfrm>
            <a:off x="7572375" y="4533900"/>
            <a:ext cx="3886200" cy="695325"/>
          </a:xfrm>
          <a:custGeom>
            <a:avLst/>
            <a:gdLst/>
            <a:ahLst/>
            <a:cxnLst/>
            <a:pathLst>
              <a:path w="408" h="7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2"/>
                </a:lnTo>
                <a:cubicBezTo>
                  <a:pt x="3" y="72"/>
                  <a:pt x="3" y="73"/>
                  <a:pt x="4" y="73"/>
                </a:cubicBez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99BDED"/>
          </a:solidFill>
        </p:spPr>
        <p:txBody>
          <a:bodyPr/>
          <a:p/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724775" y="4667250"/>
            <a:ext cx="35528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生产容器全量部署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724775" y="4924425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需生产级环境实测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543800" y="5467350"/>
            <a:ext cx="3886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「代码已实现，仅环境受限无法实测，不阻塞验收签字」</a:t>
            </a:r>
            <a:endParaRPr lang="zh-CN" sz="1200" i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571500" y="6124575"/>
            <a:ext cx="3105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PROJECT_PROGRESS.md · P0/P1/P2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状态表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05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8" name="" descr="&lt;Slide notes={`这一页介绍我们的团队分工。&#10;&#10;我们是一个 6 人的精干团队，采用&quot;专人专岗、前后端与 AI 并行&quot;的组织方式，在 7 天周期内完成这么大功能面的交付，靠的就是职责清晰、三线并行。&#10;&#10;具体分工：徐小宇担任产品经理，负责需求分析和产品设计，把控平台的功能边界和用户体验；刘仲篪担任项目经理，统筹进度、风险与资源，保障 7 天交付节奏；曹思怡负责前端开发，用 React 和 TypeScript 搭建 10 个页面；黄海森负责后端开发，用 FastAPI 实现五大智能体和 8 组路由；李辉负责 AI 与算法，主攻 LangGraph、RAG 向量检索和 NL2SQL；张军负责测试与运维，落地 78 项测试和部署环境。&#10;&#10;六个人各司其职、无缝衔接，这正是我们能在 7 天内完成交付的组织保障。`}&gt;&#10;  &lt;Box style={{ width: 1280, height: 720, background: '#FFFFFF', padding: '44 60 60 60' }}&gt;&#10;    {/* A 页眉 */}&#10;    &lt;Box style={{ flexDirection: 'row', justifyContent: 'flex-end', marginBottom: 0 }}&gt;&#10;      &lt;Text style={{ fontSize: 14, color: '#808080' }}&gt;01 · 项目概况&lt;/Text&gt;&#10;    &lt;/Box&gt;&#10;&#10;    {/* B 标题块 */}&#10;    &lt;Box style={{ marginBottom: 8 }}&gt;&#10;      &lt;Text style={{ fontSize: 34, color: '#061F32', fontWeight: 'bold', lineHeight: 1.3 }}&gt;6 人精干团队 · 专人专岗 · 三线并行&lt;/Text&gt;&#10;    &lt;/Box&gt;&#10;    &lt;Box style={{ width: 1160, height: 1, background: '#061F32', marginBottom: 24 }} /&gt;&#10;&#10;    {/* C 内容区：非对称双栏（左 6 人卡片 + 右职责矩阵） */}&#10;    &lt;Box style={{ flexDirection: 'row', flex: 1, gap: 40 }}&gt;&#10;      {/* 左侧：6 人卡片网格 */}&#10;      &lt;Box style={{ width: 560, flexDirection: 'column', gap: 14 }}&gt;&#10;        {[&#10;          { name: '徐小宇', role: '产品经理', duty: '需求分析 · 产品设计 · 功能边界把控', tag: '#08A6F6' },&#10;          { name: '刘仲篪', role: '项目经理', duty: '进度统筹 · 风险控制 · 资源协调', tag: '#061F32' },&#10;          { name: '曹思怡', role: '前端开发', duty: 'React + TypeScript · 10 个页面构建', tag: '#061F32' },&#10;          { name: '黄海森', role: '后端开发', duty: 'FastAPI · 五大 Agent · 8 组路由', tag: '#061F32' },&#10;          { name: '李辉', role: 'AI / 算法', duty: 'LangGraph · RAG 向量检索 · NL2SQL', tag: '#061F32' },&#10;          { name: '张军', role: '测试 / 运维', duty: '78 项测试 · 部署环境与上线保障', tag: '#061F32' },&#10;        ].map((m, idx) =&gt; (&#10;          &lt;Box key={idx} style={{ flexDirection: 'row', alignItems: 'center', background: 'rgba(6,31,50,0.04)', borderRadius: 6, padding: '12 18' }}&gt;&#10;            &lt;Box style={{ width: 46, height: 46, borderRadius: 23, background: m.tag, alignItems: 'center', justifyContent: 'center', marginRight: 16 }}&gt;&#10;              &lt;Text style={{ fontSize: 20, color: '#FFFFFF', fontWeight: 'bold' }}&gt;{m.name.slice(0, 1)}&lt;/Text&gt;&#10;            &lt;/Box&gt;&#10;            &lt;Box style={{ flex: 1 }}&gt;&#10;              &lt;Box style={{ flexDirection: 'row', alignItems: 'center' }}&gt;&#10;                &lt;Text style={{ fontSize: 22, color: '#061F32', fontWeight: 'bold', marginRight: 12 }}&gt;{m.name}&lt;/Text&gt;&#10;                &lt;Text style={{ fontSize: 15, color: '#08A6F6', fontWeight: 'bold', background: 'rgba(8,166,246,0.10)', borderRadius: 4, padding: '2 8' }}&gt;{m.role}&lt;/Text&gt;&#10;              &lt;/Box&gt;&#10;              &lt;Text style={{ fontSize: 17, color: '#44546A', marginTop: 4 }}&gt;{m.duty}&lt;/Text&gt;&#10;            &lt;/Box&gt;&#10;          &lt;/Box&gt;&#10;        ))}&#10;      &lt;/Box&gt;&#10;&#10;      {/* 右侧：岗位职责矩阵 + 协作说明 */}&#10;      &lt;Box style={{ flex: 1, flexDirection: 'column', gap: 20, justifyContent: 'center' }}&gt;&#10;        &lt;Box style={{ padding: '20 24', background: 'rgba(6,31,50,0.04)', borderRadius: 6, borderLeft: '3px solid #08A6F6' }}&gt;&#10;          &lt;Text style={{ fontSize: 22, color: '#061F32', fontWeight: 'bold', marginBottom: 14 }}&gt;分工逻辑 · 三线并行&lt;/Text&gt;&#10;          &lt;Box style={{ flexDirection: 'row', gap: 16 }}&gt;&#10;            &lt;Box style={{ flex: 1 }}&gt;&#10;              &lt;Text style={{ fontSize: 20, color: '#061F32', fontWeight: 'bold' }}&gt;产品线&lt;/Text&gt;&#10;              &lt;Text style={{ fontSize: 17, color: '#44546A', marginTop: 4, lineHeight: 1.5 }}&gt;需求分析、产品设计、功能边界&lt;/Text&gt;&#10;            &lt;/Box&gt;&#10;            &lt;Box style={{ flex: 1 }}&gt;&#10;              &lt;Text style={{ fontSize: 20, color: '#061F32', fontWeight: 'bold' }}&gt;研发线&lt;/Text&gt;&#10;              &lt;Text style={{ fontSize: 17, color: '#44546A', marginTop: 4, lineHeight: 1.5 }}&gt;前端 + 后端 + AI 三条研发子线&lt;/Text&gt;&#10;            &lt;/Box&gt;&#10;            &lt;Box style={{ flex: 1 }}&gt;&#10;              &lt;Text style={{ fontSize: 20, color: '#061F32', fontWeight: 'bold' }}&gt;质量线&lt;/Text&gt;&#10;              &lt;Text style={{ fontSize: 17, color: '#44546A', marginTop: 4, lineHeight: 1.5 }}&gt;测试验证、部署运维、上线保障&lt;/Text&gt;&#10;            &lt;/Box&gt;&#10;          &lt;/Box&gt;&#10;        &lt;/Box&gt;&#10;        &lt;Box style={{ padding: '20 24', background: 'rgba(6,31,50,0.04)', borderRadius: 6, borderLeft: '3px solid #061F32' }}&gt;&#10;          &lt;Text style={{ fontSize: 22, color: '#061F32', fontWeight: 'bold', marginBottom: 12 }}&gt;组织保障&lt;/Text&gt;&#10;          &lt;Text style={{ fontSize: 19, color: '#44546A', lineHeight: 1.6 }}&gt;&#10;            职责清晰、专人专岗，产品—研发—质量三线并行，&lt;br /&gt;&#10;            以项目经理为枢纽协同推进，确保 7 天交付节奏。&#10;          &lt;/Text&gt;&#10;        &lt;/Box&gt;&#10;      &lt;/Box&gt;&#10;    &lt;/Box&gt;&#10;&#10;    {/* D 页脚 */}&#10;    &lt;Box style={{ flexDirection: 'row', justifyContent: 'space-between', alignItems: 'center', marginTop: 18 }}&gt;&#10;      &lt;Text style={{ fontSize: 14, color: '#808080' }}&gt;来源：项目团队分工 · 6 人配置&lt;/Text&gt;&#10;      &lt;Text style={{ fontSize: 14, color: '#808080' }}&gt;06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矩形 4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项目概况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人精干团队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专人专岗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三线并行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矩形 441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443" name="圆角矩形 442"/>
          <p:cNvSpPr/>
          <p:nvPr/>
        </p:nvSpPr>
        <p:spPr>
          <a:xfrm>
            <a:off x="571500" y="1409700"/>
            <a:ext cx="5334000" cy="723900"/>
          </a:xfrm>
          <a:prstGeom prst="roundRect">
            <a:avLst>
              <a:gd name="adj" fmla="val 7895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44" name="圆角矩形 443"/>
          <p:cNvSpPr/>
          <p:nvPr/>
        </p:nvSpPr>
        <p:spPr>
          <a:xfrm>
            <a:off x="742950" y="15525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866775" y="165735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徐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1333500" y="1524000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徐小宇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圆角矩形 446"/>
          <p:cNvSpPr/>
          <p:nvPr/>
        </p:nvSpPr>
        <p:spPr>
          <a:xfrm>
            <a:off x="2076450" y="1552575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08A6F6">
              <a:alpha val="10000"/>
            </a:srgbClr>
          </a:solidFill>
        </p:spPr>
        <p:txBody>
          <a:bodyPr/>
          <a:p/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2076450" y="1552575"/>
            <a:ext cx="723900" cy="209550"/>
          </a:xfrm>
          <a:prstGeom prst="rect">
            <a:avLst/>
          </a:prstGeom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产品经理</a:t>
            </a:r>
            <a:endParaRPr lang="zh-CN" sz="1125" b="1">
              <a:solidFill>
                <a:srgbClr val="08A6F6"/>
              </a:solidFill>
              <a:highlight>
                <a:srgbClr val="08A6F6">
                  <a:alpha val="1000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1333500" y="1819275"/>
            <a:ext cx="4400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产品设计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功能边界把控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圆角矩形 449"/>
          <p:cNvSpPr/>
          <p:nvPr/>
        </p:nvSpPr>
        <p:spPr>
          <a:xfrm>
            <a:off x="571500" y="2266950"/>
            <a:ext cx="5334000" cy="723900"/>
          </a:xfrm>
          <a:prstGeom prst="roundRect">
            <a:avLst>
              <a:gd name="adj" fmla="val 7895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51" name="圆角矩形 450"/>
          <p:cNvSpPr/>
          <p:nvPr/>
        </p:nvSpPr>
        <p:spPr>
          <a:xfrm>
            <a:off x="742950" y="24098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866775" y="25146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1333500" y="2381250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刘仲篪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圆角矩形 453"/>
          <p:cNvSpPr/>
          <p:nvPr/>
        </p:nvSpPr>
        <p:spPr>
          <a:xfrm>
            <a:off x="2076450" y="2409825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08A6F6">
              <a:alpha val="10000"/>
            </a:srgbClr>
          </a:solidFill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2076450" y="2409825"/>
            <a:ext cx="723900" cy="209550"/>
          </a:xfrm>
          <a:prstGeom prst="rect">
            <a:avLst/>
          </a:prstGeom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项目经理</a:t>
            </a:r>
            <a:endParaRPr lang="zh-CN" sz="1125" b="1">
              <a:solidFill>
                <a:srgbClr val="08A6F6"/>
              </a:solidFill>
              <a:highlight>
                <a:srgbClr val="08A6F6">
                  <a:alpha val="1000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1333500" y="2676525"/>
            <a:ext cx="4400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进度统筹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资源协调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圆角矩形 456"/>
          <p:cNvSpPr/>
          <p:nvPr/>
        </p:nvSpPr>
        <p:spPr>
          <a:xfrm>
            <a:off x="571500" y="3124200"/>
            <a:ext cx="5334000" cy="723900"/>
          </a:xfrm>
          <a:prstGeom prst="roundRect">
            <a:avLst>
              <a:gd name="adj" fmla="val 7895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58" name="圆角矩形 457"/>
          <p:cNvSpPr/>
          <p:nvPr/>
        </p:nvSpPr>
        <p:spPr>
          <a:xfrm>
            <a:off x="742950" y="32670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866775" y="337185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曹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333500" y="3238500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黄海森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2076450" y="3267075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08A6F6">
              <a:alpha val="10000"/>
            </a:srgbClr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2076450" y="3267075"/>
            <a:ext cx="723900" cy="209550"/>
          </a:xfrm>
          <a:prstGeom prst="rect">
            <a:avLst/>
          </a:prstGeom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前端开发</a:t>
            </a:r>
            <a:endParaRPr lang="zh-CN" sz="1125" b="1">
              <a:solidFill>
                <a:srgbClr val="08A6F6"/>
              </a:solidFill>
              <a:highlight>
                <a:srgbClr val="08A6F6">
                  <a:alpha val="1000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1333500" y="3533775"/>
            <a:ext cx="4400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React + TypeScript · 10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个页面构建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圆角矩形 463"/>
          <p:cNvSpPr/>
          <p:nvPr/>
        </p:nvSpPr>
        <p:spPr>
          <a:xfrm>
            <a:off x="571500" y="3981450"/>
            <a:ext cx="5334000" cy="723900"/>
          </a:xfrm>
          <a:prstGeom prst="roundRect">
            <a:avLst>
              <a:gd name="adj" fmla="val 7895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65" name="圆角矩形 464"/>
          <p:cNvSpPr/>
          <p:nvPr/>
        </p:nvSpPr>
        <p:spPr>
          <a:xfrm>
            <a:off x="742950" y="41243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866775" y="42291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黄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1333500" y="4095750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曹思怡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圆角矩形 467"/>
          <p:cNvSpPr/>
          <p:nvPr/>
        </p:nvSpPr>
        <p:spPr>
          <a:xfrm>
            <a:off x="2076450" y="4124325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08A6F6">
              <a:alpha val="10000"/>
            </a:srgbClr>
          </a:solidFill>
        </p:spPr>
        <p:txBody>
          <a:bodyPr/>
          <a:p/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2076450" y="4124325"/>
            <a:ext cx="723900" cy="209550"/>
          </a:xfrm>
          <a:prstGeom prst="rect">
            <a:avLst/>
          </a:prstGeom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后端开发</a:t>
            </a:r>
            <a:endParaRPr lang="zh-CN" sz="1125" b="1">
              <a:solidFill>
                <a:srgbClr val="08A6F6"/>
              </a:solidFill>
              <a:highlight>
                <a:srgbClr val="08A6F6">
                  <a:alpha val="1000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333500" y="4391025"/>
            <a:ext cx="4400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FastAPI ·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五大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Agent · 8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组路由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571500" y="4838700"/>
            <a:ext cx="5334000" cy="723900"/>
          </a:xfrm>
          <a:prstGeom prst="roundRect">
            <a:avLst>
              <a:gd name="adj" fmla="val 7895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72" name="圆角矩形 471"/>
          <p:cNvSpPr/>
          <p:nvPr/>
        </p:nvSpPr>
        <p:spPr>
          <a:xfrm>
            <a:off x="742950" y="49815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866775" y="508635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李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1333500" y="4953000"/>
            <a:ext cx="419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李辉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5" name="圆角矩形 474"/>
          <p:cNvSpPr/>
          <p:nvPr/>
        </p:nvSpPr>
        <p:spPr>
          <a:xfrm>
            <a:off x="1866900" y="4981575"/>
            <a:ext cx="752475" cy="209550"/>
          </a:xfrm>
          <a:prstGeom prst="roundRect">
            <a:avLst>
              <a:gd name="adj" fmla="val 18182"/>
            </a:avLst>
          </a:prstGeom>
          <a:solidFill>
            <a:srgbClr val="08A6F6">
              <a:alpha val="10000"/>
            </a:srgbClr>
          </a:solidFill>
        </p:spPr>
        <p:txBody>
          <a:bodyPr/>
          <a:p/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1866900" y="4981575"/>
            <a:ext cx="752475" cy="209550"/>
          </a:xfrm>
          <a:prstGeom prst="rect">
            <a:avLst/>
          </a:prstGeom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AI / </a:t>
            </a: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sz="1125" b="1">
              <a:solidFill>
                <a:srgbClr val="08A6F6"/>
              </a:solidFill>
              <a:highlight>
                <a:srgbClr val="08A6F6">
                  <a:alpha val="1000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1333500" y="5248275"/>
            <a:ext cx="4400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LangGraph · RAG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向量检索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NL2SQL</a:t>
            </a:r>
            <a:endParaRPr lang="en-US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571500" y="5695950"/>
            <a:ext cx="5334000" cy="723900"/>
          </a:xfrm>
          <a:prstGeom prst="roundRect">
            <a:avLst>
              <a:gd name="adj" fmla="val 7895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79" name="圆角矩形 478"/>
          <p:cNvSpPr/>
          <p:nvPr/>
        </p:nvSpPr>
        <p:spPr>
          <a:xfrm>
            <a:off x="742950" y="58388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866775" y="59436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1333500" y="5810250"/>
            <a:ext cx="419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张军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圆角矩形 481"/>
          <p:cNvSpPr/>
          <p:nvPr/>
        </p:nvSpPr>
        <p:spPr>
          <a:xfrm>
            <a:off x="1866900" y="5838825"/>
            <a:ext cx="885825" cy="209550"/>
          </a:xfrm>
          <a:prstGeom prst="roundRect">
            <a:avLst>
              <a:gd name="adj" fmla="val 18182"/>
            </a:avLst>
          </a:prstGeom>
          <a:solidFill>
            <a:srgbClr val="08A6F6">
              <a:alpha val="10000"/>
            </a:srgbClr>
          </a:solidFill>
        </p:spPr>
        <p:txBody>
          <a:bodyPr/>
          <a:p/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1866900" y="5838825"/>
            <a:ext cx="885825" cy="209550"/>
          </a:xfrm>
          <a:prstGeom prst="rect">
            <a:avLst/>
          </a:prstGeom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en-US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 b="1">
                <a:solidFill>
                  <a:srgbClr val="08A6F6"/>
                </a:solidFill>
                <a:highlight>
                  <a:srgbClr val="08A6F6">
                    <a:alpha val="1000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运维</a:t>
            </a:r>
            <a:endParaRPr lang="zh-CN" sz="1125" b="1">
              <a:solidFill>
                <a:srgbClr val="08A6F6"/>
              </a:solidFill>
              <a:highlight>
                <a:srgbClr val="08A6F6">
                  <a:alpha val="1000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1333500" y="6105525"/>
            <a:ext cx="4400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78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项测试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部署环境与上线保障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圆角矩形 484"/>
          <p:cNvSpPr/>
          <p:nvPr/>
        </p:nvSpPr>
        <p:spPr>
          <a:xfrm>
            <a:off x="6315075" y="2286000"/>
            <a:ext cx="5334000" cy="1628775"/>
          </a:xfrm>
          <a:prstGeom prst="roundRect">
            <a:avLst>
              <a:gd name="adj" fmla="val 3509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86" name="任意多边形 485"/>
          <p:cNvSpPr/>
          <p:nvPr/>
        </p:nvSpPr>
        <p:spPr>
          <a:xfrm>
            <a:off x="6315075" y="2286000"/>
            <a:ext cx="5334000" cy="1628775"/>
          </a:xfrm>
          <a:custGeom>
            <a:avLst/>
            <a:gdLst/>
            <a:ahLst/>
            <a:cxnLst/>
            <a:pathLst>
              <a:path w="560" h="171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68"/>
                </a:lnTo>
                <a:cubicBezTo>
                  <a:pt x="3" y="169"/>
                  <a:pt x="4" y="171"/>
                  <a:pt x="5" y="171"/>
                </a:cubicBezTo>
                <a:cubicBezTo>
                  <a:pt x="2" y="171"/>
                  <a:pt x="0" y="168"/>
                  <a:pt x="0" y="16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6543675" y="2476500"/>
            <a:ext cx="4848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分工逻辑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三线并行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6543675" y="2867025"/>
            <a:ext cx="15144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产品线</a:t>
            </a:r>
            <a:endParaRPr lang="zh-CN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6543675" y="3133725"/>
            <a:ext cx="15144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需求分析、产品设计、功能边界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8210550" y="2867025"/>
            <a:ext cx="15144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研发线</a:t>
            </a:r>
            <a:endParaRPr lang="zh-CN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8210550" y="3133725"/>
            <a:ext cx="15144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AI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三条研发子线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9877425" y="2867025"/>
            <a:ext cx="15144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质量线</a:t>
            </a:r>
            <a:endParaRPr lang="zh-CN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9877425" y="3133725"/>
            <a:ext cx="15144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测试验证、部署运维、上线保障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圆角矩形 493"/>
          <p:cNvSpPr/>
          <p:nvPr/>
        </p:nvSpPr>
        <p:spPr>
          <a:xfrm>
            <a:off x="6315075" y="4105275"/>
            <a:ext cx="5334000" cy="1447800"/>
          </a:xfrm>
          <a:prstGeom prst="roundRect">
            <a:avLst>
              <a:gd name="adj" fmla="val 3947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495" name="任意多边形 494"/>
          <p:cNvSpPr/>
          <p:nvPr/>
        </p:nvSpPr>
        <p:spPr>
          <a:xfrm>
            <a:off x="6315075" y="4105275"/>
            <a:ext cx="5334000" cy="1447800"/>
          </a:xfrm>
          <a:custGeom>
            <a:avLst/>
            <a:gdLst/>
            <a:ahLst/>
            <a:cxnLst/>
            <a:pathLst>
              <a:path w="560" h="1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49"/>
                </a:lnTo>
                <a:cubicBezTo>
                  <a:pt x="3" y="150"/>
                  <a:pt x="4" y="152"/>
                  <a:pt x="5" y="152"/>
                </a:cubicBezTo>
                <a:cubicBezTo>
                  <a:pt x="2" y="152"/>
                  <a:pt x="0" y="149"/>
                  <a:pt x="0" y="1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6543675" y="4295775"/>
            <a:ext cx="4848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组织保障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6543675" y="4667250"/>
            <a:ext cx="4848225" cy="695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职责清晰、专人专岗，产品—研发—质量三线并行，</a:t>
            </a:r>
            <a:endParaRPr lang="zh-CN" sz="14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以项目经理为枢纽协同推进，确保</a:t>
            </a:r>
            <a:r>
              <a:rPr lang="en-US" sz="14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14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天交付节奏。</a:t>
            </a:r>
            <a:endParaRPr lang="zh-CN" sz="14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571500" y="6591300"/>
            <a:ext cx="1838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来源：项目团队分工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· 6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人配置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111633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06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0" name="" descr="&lt;Slide notes={`进入第二章，总体设计。&#10;&#10;这一章我要讲清楚平台的技术底座——六层架构和四库混合存储。这是整个平台能支撑 AI 能力的根基。`}&gt;&#10;  &lt;Box style={{ width: 1280, height: 720, background: 'linear-gradient(135deg, #061F32 0%, #0A2E4A 100%)', padding: 60, position: 'relative', overflow: 'hidden' }}&gt;&#10;    &lt;Text style={{ position: 'absolute', left: 40, top: 120, fontSize: 260, fontWeight: 'bold', color: 'rgba(255,255,255,0.08)', lineHeight: 1 }}&gt;02&lt;/Text&gt;&#10;    &lt;Box style={{ position: 'absolute', left: 320, top: 260 }}&gt;&#10;      &lt;Text style={{ fontSize: 20, color: '#08A6F6', fontWeight: 'bold', letterSpacing: 3, marginBottom: 20 }}&gt;CHAPTER 02&lt;/Text&gt;&#10;      &lt;Text style={{ fontSize: 52, color: '#FFFFFF', fontWeight: 'bold', lineHeight: 1.2 }}&gt;总体设计&lt;/Text&gt;&#10;      &lt;Text style={{ fontSize: 24, color: '#99BDED', marginTop: 20, letterSpacing: 1 }}&gt;架构与技术选型 · 六层架构与四库混合存储&lt;/Text&gt;&#10;    &lt;/Box&gt;&#10;    &lt;Box style={{ position: 'absolute', left: 320, bottom: 120, width: 80, height: 3, background: '#08A6F6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矩形 5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100000">
                <a:srgbClr val="0A2E4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381000" y="1143000"/>
            <a:ext cx="3057525" cy="297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9500" b="1">
              <a:solidFill>
                <a:srgbClr val="FFFFFF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3048000" y="2476500"/>
            <a:ext cx="45053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CHAPTER 02</a:t>
            </a:r>
            <a:endParaRPr lang="en-US" sz="1500" b="1" spc="22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3048000" y="2895600"/>
            <a:ext cx="4505325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总体设计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3048000" y="3800475"/>
            <a:ext cx="4505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架构与技术选型</a:t>
            </a:r>
            <a:r>
              <a:rPr lang="en-US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六层架构与四库混合存储</a:t>
            </a:r>
            <a:endParaRPr lang="zh-CN" sz="1800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矩形 505"/>
          <p:cNvSpPr/>
          <p:nvPr/>
        </p:nvSpPr>
        <p:spPr>
          <a:xfrm>
            <a:off x="3048000" y="5686425"/>
            <a:ext cx="762000" cy="28575"/>
          </a:xfrm>
          <a:prstGeom prst="rect">
            <a:avLst/>
          </a:prstGeom>
          <a:solidFill>
            <a:srgbClr val="08A6F6"/>
          </a:solid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7" name="" descr="&lt;Slide notes={`这是平台最核心的一张架构图，六层架构加四库混合存储。&#10;&#10;左边是六层架构，从上到下：用户接入层、业务服务层、AI 智能核心层、数据存储层、数据接入层、基础设施层。其中 AI 智能核心层是灵魂，里面跑的是五大 LangGraph 智能体、RAG 知识库、NL2SQL 决策。&#10;&#10;右边是四库混合存储，这是关键设计决策。我们为什么不用单一数据库？因为四类诉求单库都满足不了：MySQL 负责业务主数据和权限，保证事务一致性；PostgreSQL 存海量人才履历和分析宽表，支撑时序分析；Milvus 是向量库，支撑语义检索；Redis 做热点缓存和限流。四库各司其职，是 AI 原生平台的必然选型。&#10;&#10;这套架构的落地不是纸面设计，是真实接线——Milvus 向量库、Dify 中台、SiliconFlow 大模型全部打通，实测可用。`}&gt;&#10;  &lt;Box style={{ width: 1280, height: 720, background: '#FFFFFF', padding: '44 60 60 60' }}&gt;&#10;    &lt;Box style={{ flexDirection: 'row', justifyContent: 'flex-end', marginBottom: 0 }}&gt;&#10;      &lt;Text style={{ fontSize: 14, color: '#808080' }}&gt;02 · 总体设计&lt;/Text&gt;&#10;    &lt;/Box&gt;&#10;    &lt;Box style={{ marginBottom: 8 }}&gt;&#10;      &lt;Text style={{ fontSize: 34, color: '#061F32', fontWeight: 'bold', lineHeight: 1.3 }}&gt;六层架构 × 四库混合存储，支撑 AI 原生能力&lt;/Text&gt;&#10;    &lt;/Box&gt;&#10;    &lt;Box style={{ width: 1160, height: 1, background: '#061F32', marginBottom: 24 }} /&gt;&#10;&#10;    &lt;Box style={{ flexDirection: 'row', flex: 1, gap: 40 }}&gt;&#10;      {/* 左：六层架构 SVG */}&#10;      &lt;Box style={{ flex: 5, flexDirection: 'column' }}&gt;&#10;        &lt;Text style={{ fontSize: 22, color: '#061F32', fontWeight: 'bold', marginBottom: 12 }}&gt;六层架构&lt;/Text&gt;&#10;        &lt;Box style={{ flex: 1, flexDirection: 'column', gap: 6, justifyContent: 'space-between' }}&gt;&#10;          {[&#10;            ['用户接入层', 'PC · 移动端 H5 / 小程序', '#061F32'],&#10;            ['业务服务层', 'FastAPI · 8 路由 / 10 服务', '#0A2E4A'],&#10;            ['AI 智能核心层', '五大 Agent · RAG · NL2SQL', '#08A6F6'],&#10;            ['数据存储层', 'MySQL · PgSQL · Milvus · Redis', '#0E3A5C'],&#10;            ['数据接入层', '历史迁移 · 第三方对接', '#123B5E'],&#10;            ['基础设施层', 'Docker · Nginx · 国产化', '#163E61'],&#10;          ].map((layer, idx) =&gt; (&#10;            &lt;Box key={idx} style={{ flex: 1, flexDirection: 'row', alignItems: 'center', background: layer[2], borderRadius: 4, padding: '0 20' }}&gt;&#10;              &lt;Text style={{ fontSize: 20, color: '#FFFFFF', fontWeight: 'bold', width: 150 }}&gt;{layer[0]}&lt;/Text&gt;&#10;              &lt;Box style={{ width: 1, height: 24, background: 'rgba(255,255,255,0.3)', marginRight: 20 }} /&gt;&#10;              &lt;Text style={{ fontSize: 17, color: 'rgba(255,255,255,0.9)' }}&gt;{layer[1]}&lt;/Text&gt;&#10;            &lt;/Box&gt;&#10;          ))}&#10;        &lt;/Box&gt;&#10;      &lt;/Box&gt;&#10;&#10;      {/* 右：四库存储 */}&#10;      &lt;Box style={{ flex: 4, flexDirection: 'column' }}&gt;&#10;        &lt;Text style={{ fontSize: 22, color: '#061F32', fontWeight: 'bold', marginBottom: 12 }}&gt;四库混合存储&lt;/Text&gt;&#10;        &lt;Box style={{ flexDirection: 'column', gap: 12 }}&gt;&#10;          {[&#10;            ['MySQL', '业务主数据 · 权限 · 配置', '事务一致性'],&#10;            ['PostgreSQL', '海量履历 · 时序行为 · 宽表', '分析能力'],&#10;            ['Milvus', '向量知识库 · 语义检索', '语义检索'],&#10;            ['Redis', '热点缓存 · 会话 · 限流', '高性能'],&#10;          ].map((db, idx) =&gt; (&#10;            &lt;Box key={idx} style={{ padding: '14 18', background: '#FFFFFF', borderRadius: 4, border: '1px solid #E7E6E6', borderLeft: '3px solid #08A6F6', flexDirection: 'row', alignItems: 'center' }}&gt;&#10;              &lt;Text style={{ fontSize: 19, color: '#061F32', fontWeight: 'bold', width: 110 }}&gt;{db[0]}&lt;/Text&gt;&#10;              &lt;Box style={{ flex: 1 }}&gt;&#10;                &lt;Text style={{ fontSize: 16, color: '#44546A' }}&gt;{db[1]}&lt;/Text&gt;&#10;                &lt;Text style={{ fontSize: 14, color: '#808080', marginTop: 2 }}&gt;→ {db[2]}&lt;/Text&gt;&#10;              &lt;/Box&gt;&#10;            &lt;/Box&gt;&#10;          ))}&#10;        &lt;/Box&gt;&#10;        &lt;Box style={{ marginTop: 'auto', paddingTop: 12 }}&gt;&#10;          &lt;Text style={{ fontSize: 16, color: '#44546A', fontStyle: 'italic', lineHeight: 1.5 }}&gt;&#10;            四类诉求单库无法兼顾，四库各司其职是 AI 原生平台的必然选型。&#10;          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README.md · 六层架构 / 四库混合存储&lt;/Text&gt;&#10;      &lt;Text style={{ fontSize: 14, color: '#808080' }}&gt;08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矩形 5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总体设计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六层架构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四库混合存储，支撑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原生能力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1" name="矩形 510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571500" y="1409700"/>
            <a:ext cx="5924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六层架构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3" name="圆角矩形 512"/>
          <p:cNvSpPr/>
          <p:nvPr/>
        </p:nvSpPr>
        <p:spPr>
          <a:xfrm>
            <a:off x="571500" y="1781175"/>
            <a:ext cx="5924550" cy="647700"/>
          </a:xfrm>
          <a:prstGeom prst="roundRect">
            <a:avLst>
              <a:gd name="adj" fmla="val 5882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762000" y="1990725"/>
            <a:ext cx="1428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用户接入层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矩形 514"/>
          <p:cNvSpPr/>
          <p:nvPr/>
        </p:nvSpPr>
        <p:spPr>
          <a:xfrm>
            <a:off x="2190750" y="1990725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2390775" y="2009775"/>
            <a:ext cx="1752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PC ·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移动端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H5 /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小程序</a:t>
            </a:r>
            <a:endParaRPr lang="zh-CN" sz="12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圆角矩形 516"/>
          <p:cNvSpPr/>
          <p:nvPr/>
        </p:nvSpPr>
        <p:spPr>
          <a:xfrm>
            <a:off x="571500" y="2486025"/>
            <a:ext cx="5924550" cy="638175"/>
          </a:xfrm>
          <a:prstGeom prst="roundRect">
            <a:avLst>
              <a:gd name="adj" fmla="val 5970"/>
            </a:avLst>
          </a:prstGeom>
          <a:solidFill>
            <a:srgbClr val="0A2E4A"/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762000" y="2695575"/>
            <a:ext cx="1428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业务服务层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矩形 518"/>
          <p:cNvSpPr/>
          <p:nvPr/>
        </p:nvSpPr>
        <p:spPr>
          <a:xfrm>
            <a:off x="2190750" y="2695575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2390775" y="2705100"/>
            <a:ext cx="1895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FastAPI · 8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路由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10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sz="12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571500" y="3181350"/>
            <a:ext cx="5924550" cy="647700"/>
          </a:xfrm>
          <a:prstGeom prst="roundRect">
            <a:avLst>
              <a:gd name="adj" fmla="val 5882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762000" y="3390900"/>
            <a:ext cx="1428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智能核心层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矩形 522"/>
          <p:cNvSpPr/>
          <p:nvPr/>
        </p:nvSpPr>
        <p:spPr>
          <a:xfrm>
            <a:off x="2190750" y="3390900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2390775" y="3409950"/>
            <a:ext cx="20669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五大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Agent · RAG · NL2SQL</a:t>
            </a:r>
            <a:endParaRPr lang="en-US" sz="12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571500" y="3886200"/>
            <a:ext cx="5924550" cy="647700"/>
          </a:xfrm>
          <a:prstGeom prst="roundRect">
            <a:avLst>
              <a:gd name="adj" fmla="val 5882"/>
            </a:avLst>
          </a:prstGeom>
          <a:solidFill>
            <a:srgbClr val="0E3A5C"/>
          </a:solidFill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762000" y="4095750"/>
            <a:ext cx="1428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数据存储层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矩形 526"/>
          <p:cNvSpPr/>
          <p:nvPr/>
        </p:nvSpPr>
        <p:spPr>
          <a:xfrm>
            <a:off x="2190750" y="4095750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2390775" y="4114800"/>
            <a:ext cx="2381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MySQL · PgSQL · Milvus · Redis</a:t>
            </a:r>
            <a:endParaRPr lang="en-US" sz="12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圆角矩形 528"/>
          <p:cNvSpPr/>
          <p:nvPr/>
        </p:nvSpPr>
        <p:spPr>
          <a:xfrm>
            <a:off x="571500" y="4591050"/>
            <a:ext cx="5924550" cy="638175"/>
          </a:xfrm>
          <a:prstGeom prst="roundRect">
            <a:avLst>
              <a:gd name="adj" fmla="val 5970"/>
            </a:avLst>
          </a:prstGeom>
          <a:solidFill>
            <a:srgbClr val="123B5E"/>
          </a:solidFill>
        </p:spPr>
        <p:txBody>
          <a:bodyPr/>
          <a:p/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762000" y="4800600"/>
            <a:ext cx="1428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数据接入层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矩形 530"/>
          <p:cNvSpPr/>
          <p:nvPr/>
        </p:nvSpPr>
        <p:spPr>
          <a:xfrm>
            <a:off x="2190750" y="4800600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2390775" y="48101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历史迁移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第三方对接</a:t>
            </a:r>
            <a:endParaRPr lang="zh-CN" sz="12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圆角矩形 532"/>
          <p:cNvSpPr/>
          <p:nvPr/>
        </p:nvSpPr>
        <p:spPr>
          <a:xfrm>
            <a:off x="571500" y="5286375"/>
            <a:ext cx="5924550" cy="647700"/>
          </a:xfrm>
          <a:prstGeom prst="roundRect">
            <a:avLst>
              <a:gd name="adj" fmla="val 5882"/>
            </a:avLst>
          </a:prstGeom>
          <a:solidFill>
            <a:srgbClr val="163E61"/>
          </a:solidFill>
        </p:spPr>
        <p:txBody>
          <a:bodyPr/>
          <a:p/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762000" y="5495925"/>
            <a:ext cx="1428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基础设施层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5" name="矩形 534"/>
          <p:cNvSpPr/>
          <p:nvPr/>
        </p:nvSpPr>
        <p:spPr>
          <a:xfrm>
            <a:off x="2190750" y="5495925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2390775" y="5514975"/>
            <a:ext cx="17621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Docker · Nginx ·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国产化</a:t>
            </a:r>
            <a:endParaRPr lang="zh-CN" sz="12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6877050" y="1409700"/>
            <a:ext cx="47434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四库混合存储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圆角矩形 537"/>
          <p:cNvSpPr/>
          <p:nvPr/>
        </p:nvSpPr>
        <p:spPr>
          <a:xfrm>
            <a:off x="6905625" y="1781175"/>
            <a:ext cx="474345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39" name="任意多边形 538"/>
          <p:cNvSpPr/>
          <p:nvPr/>
        </p:nvSpPr>
        <p:spPr>
          <a:xfrm>
            <a:off x="6905625" y="1781175"/>
            <a:ext cx="4743450" cy="638175"/>
          </a:xfrm>
          <a:custGeom>
            <a:avLst/>
            <a:gdLst/>
            <a:ahLst/>
            <a:cxnLst/>
            <a:pathLst>
              <a:path w="498" h="67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6"/>
                </a:lnTo>
                <a:cubicBezTo>
                  <a:pt x="3" y="66"/>
                  <a:pt x="3" y="67"/>
                  <a:pt x="4" y="67"/>
                </a:cubicBez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7077075" y="1990725"/>
            <a:ext cx="1047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MySQL</a:t>
            </a:r>
            <a:endParaRPr lang="en-US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8124825" y="1914525"/>
            <a:ext cx="3324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业务主数据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8124825" y="2124075"/>
            <a:ext cx="3324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事务一致性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圆角矩形 542"/>
          <p:cNvSpPr/>
          <p:nvPr/>
        </p:nvSpPr>
        <p:spPr>
          <a:xfrm>
            <a:off x="6905625" y="2533650"/>
            <a:ext cx="474345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44" name="任意多边形 543"/>
          <p:cNvSpPr/>
          <p:nvPr/>
        </p:nvSpPr>
        <p:spPr>
          <a:xfrm>
            <a:off x="6905625" y="2533650"/>
            <a:ext cx="4743450" cy="638175"/>
          </a:xfrm>
          <a:custGeom>
            <a:avLst/>
            <a:gdLst/>
            <a:ahLst/>
            <a:cxnLst/>
            <a:pathLst>
              <a:path w="498" h="67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6"/>
                </a:lnTo>
                <a:cubicBezTo>
                  <a:pt x="3" y="66"/>
                  <a:pt x="3" y="67"/>
                  <a:pt x="4" y="67"/>
                </a:cubicBez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7077075" y="2743200"/>
            <a:ext cx="1047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PostgreSQL</a:t>
            </a:r>
            <a:endParaRPr lang="en-US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8124825" y="2667000"/>
            <a:ext cx="3324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海量履历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时序行为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宽表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8124825" y="2876550"/>
            <a:ext cx="3324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分析能力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圆角矩形 547"/>
          <p:cNvSpPr/>
          <p:nvPr/>
        </p:nvSpPr>
        <p:spPr>
          <a:xfrm>
            <a:off x="6905625" y="3286125"/>
            <a:ext cx="474345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49" name="任意多边形 548"/>
          <p:cNvSpPr/>
          <p:nvPr/>
        </p:nvSpPr>
        <p:spPr>
          <a:xfrm>
            <a:off x="6905625" y="3286125"/>
            <a:ext cx="4743450" cy="638175"/>
          </a:xfrm>
          <a:custGeom>
            <a:avLst/>
            <a:gdLst/>
            <a:ahLst/>
            <a:cxnLst/>
            <a:pathLst>
              <a:path w="498" h="67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6"/>
                </a:lnTo>
                <a:cubicBezTo>
                  <a:pt x="3" y="66"/>
                  <a:pt x="3" y="67"/>
                  <a:pt x="4" y="67"/>
                </a:cubicBez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7077075" y="3495675"/>
            <a:ext cx="1047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Milvus</a:t>
            </a:r>
            <a:endParaRPr lang="en-US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8124825" y="3419475"/>
            <a:ext cx="3324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向量知识库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语义检索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8124825" y="3629025"/>
            <a:ext cx="3324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语义检索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6905625" y="4038600"/>
            <a:ext cx="4743450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54" name="任意多边形 553"/>
          <p:cNvSpPr/>
          <p:nvPr/>
        </p:nvSpPr>
        <p:spPr>
          <a:xfrm>
            <a:off x="6905625" y="4038600"/>
            <a:ext cx="4743450" cy="638175"/>
          </a:xfrm>
          <a:custGeom>
            <a:avLst/>
            <a:gdLst/>
            <a:ahLst/>
            <a:cxnLst/>
            <a:pathLst>
              <a:path w="498" h="67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6"/>
                </a:lnTo>
                <a:cubicBezTo>
                  <a:pt x="3" y="66"/>
                  <a:pt x="3" y="67"/>
                  <a:pt x="4" y="67"/>
                </a:cubicBez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555" name="文本框 554" descr="{&quot;isTemplate&quot;:true,&quot;type&quot;:&quot;text&quot;}"/>
          <p:cNvSpPr txBox="1"/>
          <p:nvPr/>
        </p:nvSpPr>
        <p:spPr>
          <a:xfrm>
            <a:off x="7077075" y="4248150"/>
            <a:ext cx="1047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endParaRPr lang="en-US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8124825" y="4171950"/>
            <a:ext cx="3324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热点缓存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会话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限流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8124825" y="4381500"/>
            <a:ext cx="3324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高性能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6877050" y="5657850"/>
            <a:ext cx="47434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四类诉求单库无法兼顾，四库各司其职是</a:t>
            </a:r>
            <a:r>
              <a:rPr lang="en-US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原生平台的必然选型。</a:t>
            </a:r>
            <a:endParaRPr lang="zh-CN" sz="1200" i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571500" y="6124575"/>
            <a:ext cx="2790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README.md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六层架构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四库混合存储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08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" descr="&lt;Slide notes={`这一页讲技术栈和 AI 智能层的实现细节。&#10;&#10;左边是完整技术栈。后端用 FastAPI 加 SQLAlchemy 2.0 和 Pydantic，AI 层用 LangChain 做编排、LangGraph 做多智能体状态机、Dify 做应用中台、Vanna 做 NL2SQL、SiliconFlow 提供大模型。前端是 React 加 TypeScript 加 Vite 加 AntD。部署走 Docker 加 Nginx。&#10;&#10;右边重点讲 LLM 三层降级策略，这是我们在工程上做的一个关键设计。我们的 LLM 工厂支持三层：第一层 Ollama 本地模型，数据不出域，符合个人信息保护法；第二层 SiliconFlow，用于简历解析和 NL2SQL，响应时间从本地的一百多秒降到二点三秒，提升五十六倍；第三层阿里百炼，供 Dify 中台内部使用。&#10;&#10;关键点是：三层是&quot;策略可切换&quot;的，验收时如果需要合规云 API，零改代码就能切。这样既保证了灵活，又保证了数据安全。`}&gt;&#10;  &lt;Box style={{ width: 1280, height: 720, background: '#FFFFFF', padding: '44 60 60 60' }}&gt;&#10;    &lt;Box style={{ flexDirection: 'row', justifyContent: 'flex-end', marginBottom: 0 }}&gt;&#10;      &lt;Text style={{ fontSize: 14, color: '#808080' }}&gt;02 · 总体设计&lt;/Text&gt;&#10;    &lt;/Box&gt;&#10;    &lt;Box style={{ marginBottom: 8 }}&gt;&#10;      &lt;Text style={{ fontSize: 34, color: '#061F32', fontWeight: 'bold', lineHeight: 1.3 }}&gt;真实技术栈接线，LLM 三层降级策略保障合规&lt;/Text&gt;&#10;    &lt;/Box&gt;&#10;    &lt;Box style={{ width: 1160, height: 1, background: '#061F32', marginBottom: 24 }} /&gt;&#10;&#10;    &lt;Box style={{ flexDirection: 'row', flex: 1, gap: 40 }}&gt;&#10;      {/* 左：技术栈 */}&#10;      &lt;Box style={{ flex: 5, flexDirection: 'column' }}&gt;&#10;        &lt;Text style={{ fontSize: 22, color: '#061F32', fontWeight: 'bold', marginBottom: 14 }}&gt;全栈技术选型&lt;/Text&gt;&#10;        &lt;Box style={{ flexDirection: 'column', gap: 14 }}&gt;&#10;          {[&#10;            ['后端', 'FastAPI · SQLAlchemy 2.0 · Pydantic'],&#10;            ['AI 编排', 'LangChain · LangGraph · Vanna.ai'],&#10;            ['AI 中台', 'Dify（5 个智能体 Workflow）'],&#10;            ['大模型', 'SiliconFlow DeepSeek-V4-Flash'],&#10;            ['前端', 'React · TypeScript · Vite · AntD'],&#10;            ['部署', 'Docker · Nginx · 国产化兼容'],&#10;          ].map((t, idx) =&gt; (&#10;            &lt;Box key={idx} style={{ flexDirection: 'row', alignItems: 'center' }}&gt;&#10;              &lt;Text style={{ fontSize: 18, color: '#061F32', fontWeight: 'bold', width: 110 }}&gt;{t[0]}&lt;/Text&gt;&#10;              &lt;Text style={{ fontSize: 18, color: '#44546A' }}&gt;{t[1]}&lt;/Text&gt;&#10;            &lt;/Box&gt;&#10;          ))}&#10;        &lt;/Box&gt;&#10;      &lt;/Box&gt;&#10;&#10;      {/* 右：LLM 三层降级 */}&#10;      &lt;Box style={{ flex: 5, flexDirection: 'column', background: 'rgba(6,31,50,0.04)', borderRadius: 6, padding: 20 }}&gt;&#10;        &lt;Text style={{ fontSize: 22, color: '#061F32', fontWeight: 'bold', marginBottom: 14 }}&gt;LLM 三层降级策略&lt;/Text&gt;&#10;        &lt;Box style={{ flexDirection: 'column', gap: 12 }}&gt;&#10;          {[&#10;            ['L1 · Ollama 本地', 'qwen3 + bge-m3，数据不出域，符合个保法', '#061F32'],&#10;            ['L2 · SiliconFlow', '简历解析 + NL2SQL，响应 2.3s（提速 56 倍）', '#08A6F6'],&#10;            ['L3 · 阿里百炼', 'Dify 中台 Workflow 内部 LLM', '#0E3A5C'],&#10;          ].map((llm, idx) =&gt; (&#10;            &lt;Box key={idx} style={{ padding: '14 16', background: '#FFFFFF', borderRadius: 4, borderLeft: `3px solid ${llm[2]}` }}&gt;&#10;              &lt;Text style={{ fontSize: 19, color: '#061F32', fontWeight: 'bold' }}&gt;{llm[0]}&lt;/Text&gt;&#10;              &lt;Text style={{ fontSize: 16, color: '#44546A', marginTop: 4 }}&gt;{llm[1]}&lt;/Text&gt;&#10;            &lt;/Box&gt;&#10;          ))}&#10;        &lt;/Box&gt;&#10;        &lt;Box style={{ marginTop: 'auto', paddingTop: 14 }}&gt;&#10;          &lt;Text style={{ fontSize: 16, color: '#44546A', fontStyle: 'italic', lineHeight: 1.5 }}&gt;&#10;            「策略可切换」——验收需合规云 API 时零改代码即可切换。&#10;          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README.md · 技术栈 / config.py LLM_STRATEGY&lt;/Text&gt;&#10;      &lt;Text style={{ fontSize: 14, color: '#808080' }}&gt;09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矩形 5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总体设计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真实技术栈接线，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三层降级策略保障合规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矩形 564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571500" y="1409700"/>
            <a:ext cx="5334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全栈技术选型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文本框 566" descr="{&quot;isTemplate&quot;:true,&quot;type&quot;:&quot;text&quot;}"/>
          <p:cNvSpPr txBox="1"/>
          <p:nvPr/>
        </p:nvSpPr>
        <p:spPr>
          <a:xfrm>
            <a:off x="571500" y="1800225"/>
            <a:ext cx="1047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1619250" y="1800225"/>
            <a:ext cx="2924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FastAPI · SQLAlchemy 2.0 · Pydantic</a:t>
            </a:r>
            <a:endParaRPr lang="en-US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571500" y="2143125"/>
            <a:ext cx="1047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编排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1619250" y="2143125"/>
            <a:ext cx="2743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LangChain · LangGraph · Vanna.ai</a:t>
            </a:r>
            <a:endParaRPr lang="en-US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571500" y="2486025"/>
            <a:ext cx="1047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中台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1619250" y="2486025"/>
            <a:ext cx="235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Dify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个智能体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Workflow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571500" y="2828925"/>
            <a:ext cx="1047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大模型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1619250" y="2828925"/>
            <a:ext cx="25622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SiliconFlow DeepSeek-V4-Flash</a:t>
            </a:r>
            <a:endParaRPr lang="en-US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571500" y="3171825"/>
            <a:ext cx="1047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1619250" y="3171825"/>
            <a:ext cx="247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React · TypeScript · Vite · AntD</a:t>
            </a:r>
            <a:endParaRPr lang="en-US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571500" y="3514725"/>
            <a:ext cx="1047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部署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1619250" y="3514725"/>
            <a:ext cx="2209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Docker · Nginx ·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国产化兼容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6286500" y="1409700"/>
            <a:ext cx="5334000" cy="4524375"/>
          </a:xfrm>
          <a:prstGeom prst="roundRect">
            <a:avLst>
              <a:gd name="adj" fmla="val 1263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6477000" y="1600200"/>
            <a:ext cx="4953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三层降级策略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圆角矩形 580"/>
          <p:cNvSpPr/>
          <p:nvPr/>
        </p:nvSpPr>
        <p:spPr>
          <a:xfrm>
            <a:off x="6505575" y="1990725"/>
            <a:ext cx="4953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82" name="任意多边形 581"/>
          <p:cNvSpPr/>
          <p:nvPr/>
        </p:nvSpPr>
        <p:spPr>
          <a:xfrm>
            <a:off x="6505575" y="1990725"/>
            <a:ext cx="4953000" cy="714375"/>
          </a:xfrm>
          <a:custGeom>
            <a:avLst/>
            <a:gdLst/>
            <a:ahLst/>
            <a:cxnLst/>
            <a:pathLst>
              <a:path w="52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6657975" y="2124075"/>
            <a:ext cx="4619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L1 · Ollama 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6657975" y="2381250"/>
            <a:ext cx="4619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qwen3 + bge-m3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，数据不出域，符合个保法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圆角矩形 584"/>
          <p:cNvSpPr/>
          <p:nvPr/>
        </p:nvSpPr>
        <p:spPr>
          <a:xfrm>
            <a:off x="6505575" y="2819400"/>
            <a:ext cx="4953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86" name="任意多边形 585"/>
          <p:cNvSpPr/>
          <p:nvPr/>
        </p:nvSpPr>
        <p:spPr>
          <a:xfrm>
            <a:off x="6505575" y="2819400"/>
            <a:ext cx="4953000" cy="714375"/>
          </a:xfrm>
          <a:custGeom>
            <a:avLst/>
            <a:gdLst/>
            <a:ahLst/>
            <a:cxnLst/>
            <a:pathLst>
              <a:path w="52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587" name="文本框 586" descr="{&quot;isTemplate&quot;:true,&quot;type&quot;:&quot;text&quot;}"/>
          <p:cNvSpPr txBox="1"/>
          <p:nvPr/>
        </p:nvSpPr>
        <p:spPr>
          <a:xfrm>
            <a:off x="6657975" y="2952750"/>
            <a:ext cx="4619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L2 · SiliconFlow</a:t>
            </a:r>
            <a:endParaRPr lang="en-US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6657975" y="3209925"/>
            <a:ext cx="4619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简历解析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NL2SQL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，响应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2.3s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（提速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56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倍）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6505575" y="3648075"/>
            <a:ext cx="4953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90" name="任意多边形 589"/>
          <p:cNvSpPr/>
          <p:nvPr/>
        </p:nvSpPr>
        <p:spPr>
          <a:xfrm>
            <a:off x="6505575" y="3648075"/>
            <a:ext cx="4953000" cy="714375"/>
          </a:xfrm>
          <a:custGeom>
            <a:avLst/>
            <a:gdLst/>
            <a:ahLst/>
            <a:cxnLst/>
            <a:pathLst>
              <a:path w="52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3A5C"/>
          </a:solidFill>
        </p:spPr>
        <p:txBody>
          <a:bodyPr/>
          <a:p/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6657975" y="3781425"/>
            <a:ext cx="4619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L3 · 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阿里百炼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6657975" y="4038600"/>
            <a:ext cx="4619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Dify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中台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Workflow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内部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LLM</a:t>
            </a:r>
            <a:endParaRPr lang="en-US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文本框 592" descr="{&quot;isTemplate&quot;:true,&quot;type&quot;:&quot;text&quot;}"/>
          <p:cNvSpPr txBox="1"/>
          <p:nvPr/>
        </p:nvSpPr>
        <p:spPr>
          <a:xfrm>
            <a:off x="6477000" y="5467350"/>
            <a:ext cx="4953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「策略可切换」——验收需合规云</a:t>
            </a:r>
            <a:r>
              <a:rPr lang="en-US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200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时零改代码即可切换。</a:t>
            </a:r>
            <a:endParaRPr lang="zh-CN" sz="1200" i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571500" y="6124575"/>
            <a:ext cx="3467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README.md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/ config.py LLM_STRATEGY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09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 descr="&lt;Slide notes={`进入第三章，核心能力。这是本次汇报的重点章节。&#10;&#10;我会重点讲五大智能体是怎么协同工作的，以及十三项 P0 功能背后真实的技术实现。`}&gt;&#10;  &lt;Box style={{ width: 1280, height: 720, background: 'linear-gradient(135deg, #061F32 0%, #0A2E4A 100%)', padding: 60, position: 'relative', overflow: 'hidden' }}&gt;&#10;    &lt;Text style={{ position: 'absolute', left: 40, top: 120, fontSize: 260, fontWeight: 'bold', color: 'rgba(255,255,255,0.08)', lineHeight: 1 }}&gt;03&lt;/Text&gt;&#10;    &lt;Box style={{ position: 'absolute', left: 320, top: 260 }}&gt;&#10;      &lt;Text style={{ fontSize: 20, color: '#08A6F6', fontWeight: 'bold', letterSpacing: 3, marginBottom: 20 }}&gt;CHAPTER 03&lt;/Text&gt;&#10;      &lt;Text style={{ fontSize: 52, color: '#FFFFFF', fontWeight: 'bold', lineHeight: 1.2 }}&gt;核心能力&lt;/Text&gt;&#10;      &lt;Text style={{ fontSize: 24, color: '#99BDED', marginTop: 20, letterSpacing: 1 }}&gt;五大智能体与功能 · 多智能体协同的 AI 人才中枢&lt;/Text&gt;&#10;    &lt;/Box&gt;&#10;    &lt;Box style={{ position: 'absolute', left: 320, bottom: 120, width: 80, height: 3, background: '#08A6F6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100000">
                <a:srgbClr val="0A2E4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81000" y="1143000"/>
            <a:ext cx="3057525" cy="297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9500" b="1">
              <a:solidFill>
                <a:srgbClr val="FFFFFF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3048000" y="2476500"/>
            <a:ext cx="51530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CHAPTER 03</a:t>
            </a:r>
            <a:endParaRPr lang="en-US" sz="1500" b="1" spc="22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3048000" y="2895600"/>
            <a:ext cx="5153025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3048000" y="3800475"/>
            <a:ext cx="51530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五大智能体与功能</a:t>
            </a:r>
            <a:r>
              <a:rPr lang="en-US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多智能体协同的</a:t>
            </a:r>
            <a:r>
              <a:rPr lang="en-US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人才中枢</a:t>
            </a:r>
            <a:endParaRPr lang="zh-CN" sz="1800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048000" y="5686425"/>
            <a:ext cx="762000" cy="28575"/>
          </a:xfrm>
          <a:prstGeom prst="rect">
            <a:avLst/>
          </a:prstGeom>
          <a:solidFill>
            <a:srgbClr val="08A6F6"/>
          </a:solid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 descr="&lt;Slide notes={`这是平台最核心的一张图，五大智能体的协同中枢。&#10;&#10;中心是平台的数据与业务底座，五个专属智能体围绕它工作：档案解析智能体负责 AI 简历解析和人才画像，测评分析智能体负责自动评分和能力雷达，岗位匹配智能体做双向精准匹配，培训赋能智能体做个性化课程推送，数据决策智能体做 NL2SQL 和数据研判。&#10;&#10;这五个智能体全部用 LangGraph 做了全同步改造，也就是每个智能体内部都是一个有状态的工作流，节点之间的状态是显式管理的。这一点很重要，因为它保证了智能体在复杂任务下的稳定性和可追溯性。&#10;&#10;而且五个智能体都通过 Dify 中台做了端到端验证，五个全通过。也就是说，从 Dify 工作流触发，到后端 Agent 执行，再到大模型加工报告，整条链路是通的。`}&gt;&#10;  &lt;Box style={{ width: 1280, height: 720, background: '#FFFFFF', padding: '44 60 60 60' }}&gt;&#10;    &lt;Box style={{ flexDirection: 'row', justifyContent: 'flex-end', marginBottom: 0 }}&gt;&#10;      &lt;Text style={{ fontSize: 14, color: '#808080' }}&gt;03 · 核心能力&lt;/Text&gt;&#10;    &lt;/Box&gt;&#10;    &lt;Box style={{ marginBottom: 8 }}&gt;&#10;      &lt;Text style={{ fontSize: 34, color: '#061F32', fontWeight: 'bold', lineHeight: 1.3 }}&gt;五大智能体协同，LangGraph 全同步改造&lt;/Text&gt;&#10;    &lt;/Box&gt;&#10;    &lt;Box style={{ width: 1160, height: 1, background: '#061F32', marginBottom: 20 }} /&gt;&#10;&#10;    &lt;Box style={{ flexDirection: 'row', flex: 1, gap: 36 }}&gt;&#10;      {/* 左：中枢 SVG */}&#10;      &lt;Box style={{ flex: 5, flexDirection: 'column', justifyContent: 'center' }}&gt;&#10;        &lt;svg width={560} height={470} viewBox='0 0 560 470'&gt;&#10;          {/* 中心 */}&#10;          &lt;rect x='205' y='200' width='150' height='70' rx='6' fill='#061F32' /&gt;&#10;          &lt;text x='280' y='230' textAnchor='middle' fill='#FFFFFF' fontSize='19' fontWeight='bold'&gt;数据与业务&lt;/text&gt;&#10;          &lt;text x='280' y='252' textAnchor='middle' fill='#99BDED' fontSize='14'&gt;四库混合存储&lt;/text&gt;&#10;&#10;          {/* 五个 Agent 节点 */}&#10;          &lt;g&gt;&#10;            &lt;rect x='30' y='40' width='180' height='62' rx='6' fill='#FFFFFF' stroke='#08A6F6' strokeWidth='2' /&gt;&#10;            &lt;text x='120' y='64' textAnchor='middle' fill='#061F32' fontSize='17' fontWeight='bold'&gt;档案解析智能体&lt;/text&gt;&#10;            &lt;text x='120' y='86' textAnchor='middle' fill='#44546A' fontSize='13'&gt;AI简历解析·人才画像&lt;/text&gt;&#10;            &lt;line x1='120' y1='102' x2='255' y2='200' stroke='#08A6F6' strokeWidth='1.5' /&gt;&#10;          &lt;/g&gt;&#10;          &lt;g&gt;&#10;            &lt;rect x='350' y='40' width='180' height='62' rx='6' fill='#FFFFFF' stroke='#08A6F6' strokeWidth='2' /&gt;&#10;            &lt;text x='440' y='64' textAnchor='middle' fill='#061F32' fontSize='17' fontWeight='bold'&gt;测评分析智能体&lt;/text&gt;&#10;            &lt;text x='440' y='86' textAnchor='middle' fill='#44546A' fontSize='13'&gt;自动评分·能力雷达&lt;/text&gt;&#10;            &lt;line x1='440' y1='102' x2='305' y2='200' stroke='#08A6F6' strokeWidth='1.5' /&gt;&#10;          &lt;/g&gt;&#10;          &lt;g&gt;&#10;            &lt;rect x='30' y='300' width='180' height='62' rx='6' fill='#FFFFFF' stroke='#08A6F6' strokeWidth='2' /&gt;&#10;            &lt;text x='120' y='324' textAnchor='middle' fill='#061F32' fontSize='17' fontWeight='bold'&gt;岗位匹配智能体&lt;/text&gt;&#10;            &lt;text x='120' y='346' textAnchor='middle' fill='#44546A' fontSize='13'&gt;双向精准匹配·向量&lt;/text&gt;&#10;            &lt;line x1='205' y1='331' x2='205' y2='235' stroke='#08A6F6' strokeWidth='1.5' /&gt;&#10;          &lt;/g&gt;&#10;          &lt;g&gt;&#10;            &lt;rect x='350' y='300' width='180' height='62' rx='6' fill='#FFFFFF' stroke='#08A6F6' strokeWidth='2' /&gt;&#10;            &lt;text x='440' y='324' textAnchor='middle' fill='#061F32' fontSize='17' fontWeight='bold'&gt;培训赋能智能体&lt;/text&gt;&#10;            &lt;text x='440' y='346' textAnchor='middle' fill='#44546A' fontSize='13'&gt;个性化推送·学习管控&lt;/text&gt;&#10;            &lt;line x1='355' y1='331' x2='355' y2='235' stroke='#08A6F6' strokeWidth='1.5' /&gt;&#10;          &lt;/g&gt;&#10;          &lt;g&gt;&#10;            &lt;rect x='180' y='390' width='200' height='62' rx='6' fill='#08A6F6' /&gt;&#10;            &lt;text x='280' y='414' textAnchor='middle' fill='#FFFFFF' fontSize='17' fontWeight='bold'&gt;数据决策智能体&lt;/text&gt;&#10;            &lt;text x='280' y='436' textAnchor='middle' fill='#E7E6E6' fontSize='13'&gt;NL2SQL·趋势研判&lt;/text&gt;&#10;            &lt;line x1='280' y1='390' x2='280' y2='270' stroke='#08A6F6' strokeWidth='1.5' /&gt;&#10;          &lt;/g&gt;&#10;        &lt;/svg&gt;&#10;      &lt;/Box&gt;&#10;&#10;      {/* 右：文字说明 */}&#10;      &lt;Box style={{ flex: 4, flexDirection: 'column', justifyContent: 'center', gap: 22 }}&gt;&#10;        &lt;Box style={{ flexDirection: 'row', alignItems: 'flex-start', gap: 14 }}&gt;&#10;          &lt;Box style={{ width: 8, height: 8, borderRadius: 4, background: '#08A6F6', marginTop: 9 }} /&gt;&#10;          &lt;Box&gt;&#10;            &lt;Text style={{ fontSize: 22, color: '#061F32', fontWeight: 'bold' }}&gt;全 LangGraph 状态机&lt;/Text&gt;&#10;            &lt;Text style={{ fontSize: 18, color: '#44546A', lineHeight: 1.5, marginTop: 4 }}&gt;五大 Agent 内部均为有状态工作流，节点状态显式管理，稳定可追溯。&lt;/Text&gt;&#10;          &lt;/Box&gt;&#10;        &lt;/Box&gt;&#10;        &lt;Box style={{ flexDirection: 'row', alignItems: 'flex-start', gap: 14 }}&gt;&#10;          &lt;Box style={{ width: 8, height: 8, borderRadius: 4, background: '#08A6F6', marginTop: 9 }} /&gt;&#10;          &lt;Box&gt;&#10;            &lt;Text style={{ fontSize: 22, color: '#061F32', fontWeight: 'bold' }}&gt;Dify 中台端到端打通&lt;/Text&gt;&#10;            &lt;Text style={{ fontSize: 18, color: '#44546A', lineHeight: 1.5, marginTop: 4 }}&gt;Dify Workflow → 后端 Agent → 大模型报告，5/5 全通过。&lt;/Text&gt;&#10;          &lt;/Box&gt;&#10;        &lt;/Box&gt;&#10;        &lt;Box style={{ flexDirection: 'row', alignItems: 'flex-start', gap: 14 }}&gt;&#10;          &lt;Box style={{ width: 8, height: 8, borderRadius: 4, background: '#08A6F6', marginTop: 9 }} /&gt;&#10;          &lt;Box&gt;&#10;            &lt;Text style={{ fontSize: 22, color: '#061F32', fontWeight: 'bold' }}&gt;真实向量匹配&lt;/Text&gt;&#10;            &lt;Text style={{ fontSize: 18, color: '#44546A', lineHeight: 1.5, marginTop: 4 }}&gt;岗位匹配接入 Milvus 余弦检索，底层 100% 生效。&lt;/Text&gt;&#10;          &lt;/Box&gt;&#10;        &lt;/Box&gt;&#10;      &lt;/Box&gt;&#10;    &lt;/Box&gt;&#10;&#10;    &lt;Box style={{ flexDirection: 'row', justifyContent: 'space-between', alignItems: 'center', marginTop: 20 }}&gt;&#10;      &lt;Text style={{ fontSize: 14, color: '#808080' }}&gt;来源：backend/app/agents/*.py · LangGraph 五大 Agent&lt;/Text&gt;&#10;      &lt;Text style={{ fontSize: 14, color: '#808080' }}&gt;11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五大智能体协同，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LangGraph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全同步改造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419225"/>
            <a:ext cx="5334000" cy="4476750"/>
          </a:xfrm>
          <a:prstGeom prst="rect">
            <a:avLst/>
          </a:prstGeom>
        </p:spPr>
      </p:pic>
      <p:sp>
        <p:nvSpPr>
          <p:cNvPr id="35" name="圆角矩形 34"/>
          <p:cNvSpPr/>
          <p:nvPr/>
        </p:nvSpPr>
        <p:spPr>
          <a:xfrm>
            <a:off x="6858000" y="2466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7067550" y="2381250"/>
            <a:ext cx="4552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全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LangGraph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状态机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067550" y="2676525"/>
            <a:ext cx="4552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五大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Agent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内部均为有状态工作流，节点状态显式管理，稳定可追溯。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858000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7067550" y="3505200"/>
            <a:ext cx="4552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Dify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中台端到端打通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7067550" y="3800475"/>
            <a:ext cx="4552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Dify Workflow →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Agent →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大模型报告，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5/5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全通过。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858000" y="4410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7067550" y="4324350"/>
            <a:ext cx="3943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真实向量匹配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7067550" y="4619625"/>
            <a:ext cx="39433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岗位匹配接入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Milvus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余弦检索，底层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100%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生效。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71500" y="6124575"/>
            <a:ext cx="3581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backend/app/agents/*.py · LangGraph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五大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11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 descr="&lt;Slide notes={`这一页回答一个评委最关心的问题：十三项 P0 功能，你们是怎么证明&quot;完成了&quot;的？&#10;&#10;我们的原则是，一个模块&quot;完成&quot;不等于代码写完，而是十项全齐——代码、数据库、API、前端、权限、日志、测试、异常处理、部署、验收证据，缺一不可。&#10;&#10;左边我举四个代表性功能，说明它们的技术落地：人才档案是 AI 简历解析加智能标签加向量检索；岗位匹配是硬条件加向量加 LLM 精排；数据决策是 NL2SQL 加趋势结构异常研判；RAG 问答是多路召回加重排。&#10;&#10;右边是完整的证据链：8 条 API 路由、53 个端点无占位；78 个测试全绿；Dify 5 智能体端到端 5/5；389 个人才和 5 个岗位已向量入库 Milvus；真实 MySQL 11 步全链路演示全通过。&#10;&#10;我要强调的是，这些都不是纸面数字，都是有实测日志和证据文件的。`}&gt;&#10;  &lt;Box style={{ width: 1280, height: 720, background: '#FFFFFF', padding: '44 60 60 60' }}&gt;&#10;    &lt;Box style={{ flexDirection: 'row', justifyContent: 'flex-end', marginBottom: 0 }}&gt;&#10;      &lt;Text style={{ fontSize: 14, color: '#808080' }}&gt;03 · 核心能力&lt;/Text&gt;&#10;    &lt;/Box&gt;&#10;    &lt;Box style={{ marginBottom: 8 }}&gt;&#10;      &lt;Text style={{ fontSize: 34, color: '#061F32', fontWeight: 'bold', lineHeight: 1.3 }}&gt;13 项 P0 功能，十项验收标准全齐&lt;/Text&gt;&#10;    &lt;/Box&gt;&#10;    &lt;Box style={{ width: 1160, height: 1, background: '#061F32', marginBottom: 24 }} /&gt;&#10;&#10;    &lt;Box style={{ flexDirection: 'row', flex: 1, gap: 40 }}&gt;&#10;      {/* 左：功能技术落地 */}&#10;      &lt;Box style={{ flex: 5, flexDirection: 'column' }}&gt;&#10;        &lt;Text style={{ fontSize: 22, color: '#061F32', fontWeight: 'bold', marginBottom: 14 }}&gt;代表性功能 · 技术落地&lt;/Text&gt;&#10;        &lt;Box style={{ flexDirection: 'column', gap: 12 }}&gt;&#10;          {[&#10;            ['人才智能档案', 'AI 简历解析 → 智能标签 → 人才画像 → 语义检索'],&#10;            ['岗位人才匹配', '硬条件过滤 + Milvus 向量 + LLM 精排'],&#10;            ['自然语言决策', 'NL2SQL + 趋势/结构/异常自动研判'],&#10;            ['RAG 知识问答', 'BM25+向量多路召回 + 重排 + 来源追溯'],&#10;          ].map((f, idx) =&gt; (&#10;            &lt;Box key={idx} style={{ padding: '14 18', background: '#FFFFFF', borderRadius: 4, border: '1px solid #E7E6E6', borderLeft: '3px solid #061F32' }}&gt;&#10;              &lt;Text style={{ fontSize: 19, color: '#061F32', fontWeight: 'bold' }}&gt;{f[0]}&lt;/Text&gt;&#10;              &lt;Text style={{ fontSize: 16, color: '#44546A', marginTop: 4 }}&gt;{f[1]}&lt;/Text&gt;&#10;            &lt;/Box&gt;&#10;          ))}&#10;        &lt;/Box&gt;&#10;      &lt;/Box&gt;&#10;&#10;      {/* 右：验收证据 */}&#10;      &lt;Box style={{ flex: 5, flexDirection: 'column', background: 'rgba(6,31,50,0.04)', borderRadius: 6, padding: 20 }}&gt;&#10;        &lt;Text style={{ fontSize: 22, color: '#061F32', fontWeight: 'bold', marginBottom: 14 }}&gt;验收证据链 · 十项全齐&lt;/Text&gt;&#10;        &lt;Box style={{ flexDirection: 'column', gap: 10 }}&gt;&#10;          {[&#10;            ['8 条路由 / 53 端点', '无 pass 占位，全 API 可用'],&#10;            ['78 测试全绿', '45 单元 + 28 集成 + 5 Dify 联调'],&#10;            ['Dify 端到端 5/5', '5 智能体 Workflow 全通过'],&#10;            ['389 人才 + 5 岗位', '已向量入库 Milvus'],&#10;            ['11 步全链路', '真实 MySQL 演示全 200'],&#10;          ].map((e, idx) =&gt; (&#10;            &lt;Box key={idx} style={{ flexDirection: 'row', alignItems: 'center', gap: 12 }}&gt;&#10;              &lt;Box style={{ width: 20, height: 20, borderRadius: 10, background: '#08A6F6', justifyContent: 'center', alignItems: 'center' }}&gt;&#10;                &lt;Text style={{ fontSize: 12, color: '#FFFFFF', fontWeight: 'bold' }}&gt;✓&lt;/Text&gt;&#10;              &lt;/Box&gt;&#10;              &lt;Text style={{ fontSize: 18, color: '#061F32', fontWeight: 'bold' }}&gt;{e[0]}&lt;/Text&gt;&#10;              &lt;Text style={{ fontSize: 15, color: '#808080', flex: 1 }}&gt;{e[1]}&lt;/Text&gt;&#10;            &lt;/Box&gt;&#10;          ))}&#10;        &lt;/Box&gt;&#10;        &lt;Box style={{ marginTop: 'auto', paddingTop: 14 }}&gt;&#10;          &lt;Text style={{ fontSize: 15, color: '#44546A', fontStyle: 'italic' }}&gt;&#10;            模块完成 = 代码+DB+API+前端+权限+日志+测试+异常+部署+证据，全齐才算完成。&#10;          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PROJECT_PROGRESS.md · 红线原则 / 已验证工作&lt;/Text&gt;&#10;      &lt;Text style={{ fontSize: 14, color: '#808080' }}&gt;12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P0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功能，十项验收标准全齐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571500" y="1409700"/>
            <a:ext cx="5334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代表性功能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技术落地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600075" y="1800225"/>
            <a:ext cx="5334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3" name="任意多边形 52"/>
          <p:cNvSpPr/>
          <p:nvPr/>
        </p:nvSpPr>
        <p:spPr>
          <a:xfrm>
            <a:off x="600075" y="1800225"/>
            <a:ext cx="5334000" cy="714375"/>
          </a:xfrm>
          <a:custGeom>
            <a:avLst/>
            <a:gdLst/>
            <a:ahLst/>
            <a:cxnLst/>
            <a:pathLst>
              <a:path w="56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771525" y="1933575"/>
            <a:ext cx="49625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人才智能档案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771525" y="2190750"/>
            <a:ext cx="4962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简历解析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智能标签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人才画像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语义检索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00075" y="2628900"/>
            <a:ext cx="5334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7" name="任意多边形 56"/>
          <p:cNvSpPr/>
          <p:nvPr/>
        </p:nvSpPr>
        <p:spPr>
          <a:xfrm>
            <a:off x="600075" y="2628900"/>
            <a:ext cx="5334000" cy="714375"/>
          </a:xfrm>
          <a:custGeom>
            <a:avLst/>
            <a:gdLst/>
            <a:ahLst/>
            <a:cxnLst/>
            <a:pathLst>
              <a:path w="56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71525" y="2762250"/>
            <a:ext cx="49625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岗位人才匹配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771525" y="3019425"/>
            <a:ext cx="4962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硬条件过滤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Milvus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向量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LLM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精排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00075" y="3457575"/>
            <a:ext cx="5334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1" name="任意多边形 60"/>
          <p:cNvSpPr/>
          <p:nvPr/>
        </p:nvSpPr>
        <p:spPr>
          <a:xfrm>
            <a:off x="600075" y="3457575"/>
            <a:ext cx="5334000" cy="714375"/>
          </a:xfrm>
          <a:custGeom>
            <a:avLst/>
            <a:gdLst/>
            <a:ahLst/>
            <a:cxnLst/>
            <a:pathLst>
              <a:path w="56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71525" y="3590925"/>
            <a:ext cx="49625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自然语言决策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71525" y="3848100"/>
            <a:ext cx="4962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NL2SQL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趋势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结构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异常自动研判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00075" y="4286250"/>
            <a:ext cx="53340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5" name="任意多边形 64"/>
          <p:cNvSpPr/>
          <p:nvPr/>
        </p:nvSpPr>
        <p:spPr>
          <a:xfrm>
            <a:off x="600075" y="4286250"/>
            <a:ext cx="5334000" cy="714375"/>
          </a:xfrm>
          <a:custGeom>
            <a:avLst/>
            <a:gdLst/>
            <a:ahLst/>
            <a:cxnLst/>
            <a:pathLst>
              <a:path w="560" h="7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4"/>
                </a:lnTo>
                <a:cubicBezTo>
                  <a:pt x="3" y="74"/>
                  <a:pt x="3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61F32"/>
          </a:solidFill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771525" y="4419600"/>
            <a:ext cx="49625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知识问答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771525" y="4676775"/>
            <a:ext cx="4962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BM25+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向量多路召回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重排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来源追溯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6286500" y="1409700"/>
            <a:ext cx="5334000" cy="4524375"/>
          </a:xfrm>
          <a:prstGeom prst="roundRect">
            <a:avLst>
              <a:gd name="adj" fmla="val 1263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477000" y="1600200"/>
            <a:ext cx="4953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验收证据链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十项全齐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6477000" y="2000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515100" y="2028825"/>
            <a:ext cx="114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781800" y="1990725"/>
            <a:ext cx="1466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条路由</a:t>
            </a: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/ 53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端点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8362950" y="2009775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pass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占位，全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6477000" y="23050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6515100" y="2333625"/>
            <a:ext cx="114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781800" y="2295525"/>
            <a:ext cx="952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78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测试全绿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848600" y="2314575"/>
            <a:ext cx="3581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45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单元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+ 28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集成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+ 5 Dify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联调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6477000" y="2609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515100" y="2638425"/>
            <a:ext cx="114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6781800" y="2600325"/>
            <a:ext cx="127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Dify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端到端</a:t>
            </a: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5/5</a:t>
            </a:r>
            <a:endParaRPr lang="en-US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8172450" y="2619375"/>
            <a:ext cx="3257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Workflow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全通过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6477000" y="291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6515100" y="2943225"/>
            <a:ext cx="114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6781800" y="2905125"/>
            <a:ext cx="1447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389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人才</a:t>
            </a: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+ 5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岗位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343900" y="2924175"/>
            <a:ext cx="3086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已向量入库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Milvus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6477000" y="3219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515100" y="3248025"/>
            <a:ext cx="114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6781800" y="3209925"/>
            <a:ext cx="952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步全链路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7848600" y="3228975"/>
            <a:ext cx="3581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真实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MySQL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演示全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200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477000" y="5400675"/>
            <a:ext cx="495300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模块完成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+DB+API+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部署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证据，全齐才算完成。</a:t>
            </a:r>
            <a:endParaRPr lang="zh-CN" sz="1125" i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71500" y="6124575"/>
            <a:ext cx="3409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PROJECT_PROGRESS.md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红线原则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已验证工作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12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 descr="&lt;Slide notes={`这一页讲两个关键的 AI 能力，RAG 知识库问答和 NL2SQL 数据决策，它们是平台的&quot;智能大脑&quot;。&#10;&#10;先说 RAG。我们实现了多路召回——BM25 关键词检索和向量语义检索混合，再经过哈希去重和重排，最后交给大模型生成带来源追溯的答案。这意味着问答不是模型瞎编，而是基于私有知识库的真实内容，并且能追溯到原文。&#10;&#10;再说 NL2SQL。这里我要特别强调安全。因为 NL2SQL 是让自然语言直接操作数据库，风险很大。我们的做法是四道防线：只读访问、表名白名单、字段白名单、权限过滤。并且在 SQL 层面做 AST 校验，比如 DROP 这种危险操作直接拦截，SELECT 也会强制注入 LIMIT 1000 限制。&#10;&#10;这套安全机制确保了 AI 能力是在严格权限管控下运行的。`}&gt;&#10;  &lt;Box style={{ width: 1280, height: 720, background: '#FFFFFF', padding: '44 60 60 60' }}&gt;&#10;    &lt;Box style={{ flexDirection: 'row', justifyContent: 'flex-end', marginBottom: 0 }}&gt;&#10;      &lt;Text style={{ fontSize: 14, color: '#808080' }}&gt;03 · 核心能力&lt;/Text&gt;&#10;    &lt;/Box&gt;&#10;    &lt;Box style={{ marginBottom: 8 }}&gt;&#10;      &lt;Text style={{ fontSize: 34, color: '#061F32', fontWeight: 'bold', lineHeight: 1.3 }}&gt;RAG 多路召回 + NL2SQL 四道安全防线&lt;/Text&gt;&#10;    &lt;/Box&gt;&#10;    &lt;Box style={{ width: 1160, height: 1, background: '#061F32', marginBottom: 24 }} /&gt;&#10;&#10;    &lt;Box style={{ flexDirection: 'row', flex: 1, gap: 44 }}&gt;&#10;      {/* 左：RAG */}&#10;      &lt;Box style={{ flex: 1, flexDirection: 'column' }}&gt;&#10;        &lt;Text style={{ fontSize: 24, color: '#061F32', fontWeight: 'bold', marginBottom: 14 }}&gt;RAG 知识库问答&lt;/Text&gt;&#10;        &lt;Box style={{ flexDirection: 'column', gap: 10 }}&gt;&#10;          {[&#10;            ['上传 → 分块', 'Jieba 中文语义切分 + 元数据策略'],&#10;            ['向量化', 'bge-m3 1024 维 embedding'],&#10;            ['多路召回', 'BM25 关键词 + 向量语义混合'],&#10;            ['去重重排', 'hash 去重 + rerank 精排'],&#10;            ['生成溯源', 'LLM 生成 + 来源追溯'],&#10;          ].map((s, idx) =&gt; (&#10;            &lt;Box key={idx} style={{ flexDirection: 'row', alignItems: 'center', gap: 12 }}&gt;&#10;              &lt;Text style={{ fontSize: 20, color: '#08A6F6', fontWeight: 'bold', width: 26 }}&gt;{idx + 1}&lt;/Text&gt;&#10;              &lt;Text style={{ fontSize: 18, color: '#061F32', fontWeight: 'bold', width: 90 }}&gt;{s[0]}&lt;/Text&gt;&#10;              &lt;Text style={{ fontSize: 16, color: '#44546A', flex: 1 }}&gt;{s[1]}&lt;/Text&gt;&#10;            &lt;/Box&gt;&#10;          ))}&#10;        &lt;/Box&gt;&#10;      &lt;/Box&gt;&#10;&#10;      &lt;Box style={{ width: 1, background: '#E7E6E6' }} /&gt;&#10;&#10;      {/* 右：NL2SQL */}&#10;      &lt;Box style={{ flex: 1, flexDirection: 'column' }}&gt;&#10;        &lt;Text style={{ fontSize: 24, color: '#061F32', fontWeight: 'bold', marginBottom: 14 }}&gt;NL2SQL · 四道安全防线&lt;/Text&gt;&#10;        &lt;Box style={{ flexDirection: 'column', gap: 12 }}&gt;&#10;          {[&#10;            ['只读访问', '禁止一切写操作，天然防篡改'],&#10;            ['表名白名单', '仅允许访问授权的业务表'],&#10;            ['字段白名单', '字段级精细授权'],&#10;            ['权限过滤', 'AI 继承当前用户权限'],&#10;            ['SQL 校验', 'AST 拦截 DROP + 强制 LIMIT 1000'],&#10;          ].map((s, idx) =&gt; (&#10;            &lt;Box key={idx} style={{ padding: '12 16', background: 'rgba(6,31,50,0.04)', borderRadius: 4, flexDirection: 'row', alignItems: 'center', gap: 12 }}&gt;&#10;              &lt;Box style={{ width: 22, height: 22, borderRadius: 11, background: '#061F32', justifyContent: 'center', alignItems: 'center' }}&gt;&#10;                &lt;Text style={{ fontSize: 13, color: '#FFFFFF', fontWeight: 'bold' }}&gt;{idx + 1}&lt;/Text&gt;&#10;              &lt;/Box&gt;&#10;              &lt;Text style={{ fontSize: 18, color: '#061F32', fontWeight: 'bold', width: 90 }}&gt;{s[0]}&lt;/Text&gt;&#10;              &lt;Text style={{ fontSize: 16, color: '#44546A', flex: 1 }}&gt;{s[1]}&lt;/Text&gt;&#10;            &lt;/Box&gt;&#10;          ))}&#10;        &lt;/Box&gt;&#10;      &lt;/Box&gt;&#10;    &lt;/Box&gt;&#10;&#10;    &lt;Box style={{ flexDirection: 'row', justifyContent: 'space-between', alignItems: 'center', marginTop: 20 }}&gt;&#10;      &lt;Text style={{ fontSize: 14, color: '#808080' }}&gt;来源：rag_search_service.py · vanna_adapter.py 安全校验&lt;/Text&gt;&#10;      &lt;Text style={{ fontSize: 14, color: '#808080' }}&gt;13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多路召回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+ NL2SQL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四道安全防线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571500" y="1409700"/>
            <a:ext cx="5105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知识库问答</a:t>
            </a:r>
            <a:endParaRPr lang="zh-CN" sz="18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571500" y="1914525"/>
            <a:ext cx="247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933450" y="1819275"/>
            <a:ext cx="8572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分块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905000" y="1933575"/>
            <a:ext cx="3771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Jieba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中文语义切分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元数据策略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571500" y="2333625"/>
            <a:ext cx="247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933450" y="2343150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向量化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1905000" y="2352675"/>
            <a:ext cx="3771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bge-m3 1024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embedding</a:t>
            </a:r>
            <a:endParaRPr lang="en-US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571500" y="2657475"/>
            <a:ext cx="247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933450" y="2667000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多路召回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1905000" y="2676525"/>
            <a:ext cx="3771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BM25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向量语义混合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571500" y="2981325"/>
            <a:ext cx="247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933450" y="2990850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去重重排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905000" y="3000375"/>
            <a:ext cx="3771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hash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去重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rerank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精排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571500" y="3305175"/>
            <a:ext cx="247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933450" y="3314700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生成溯源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905000" y="3324225"/>
            <a:ext cx="3771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来源追溯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6096000" y="1409700"/>
            <a:ext cx="9525" cy="4524375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524625" y="1409700"/>
            <a:ext cx="5095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NL2SQL · </a:t>
            </a:r>
            <a:r>
              <a:rPr lang="zh-CN" sz="18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四道安全防线</a:t>
            </a:r>
            <a:endParaRPr lang="zh-CN" sz="18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6524625" y="1819275"/>
            <a:ext cx="5095875" cy="438150"/>
          </a:xfrm>
          <a:prstGeom prst="roundRect">
            <a:avLst>
              <a:gd name="adj" fmla="val 869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17" name="圆角矩形 116"/>
          <p:cNvSpPr/>
          <p:nvPr/>
        </p:nvSpPr>
        <p:spPr>
          <a:xfrm>
            <a:off x="6677025" y="1933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743700" y="196215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7000875" y="193357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只读访问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972425" y="1943100"/>
            <a:ext cx="3495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禁止一切写操作，天然防篡改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6524625" y="2371725"/>
            <a:ext cx="5095875" cy="438150"/>
          </a:xfrm>
          <a:prstGeom prst="roundRect">
            <a:avLst>
              <a:gd name="adj" fmla="val 869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22" name="圆角矩形 121"/>
          <p:cNvSpPr/>
          <p:nvPr/>
        </p:nvSpPr>
        <p:spPr>
          <a:xfrm>
            <a:off x="6677025" y="2486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743700" y="251460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7000875" y="248602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表名白名单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7972425" y="2495550"/>
            <a:ext cx="3495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仅允许访问授权的业务表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>
            <a:off x="6524625" y="2924175"/>
            <a:ext cx="5095875" cy="438150"/>
          </a:xfrm>
          <a:prstGeom prst="roundRect">
            <a:avLst>
              <a:gd name="adj" fmla="val 869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27" name="圆角矩形 126"/>
          <p:cNvSpPr/>
          <p:nvPr/>
        </p:nvSpPr>
        <p:spPr>
          <a:xfrm>
            <a:off x="667702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743700" y="306705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7000875" y="303847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字段白名单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7972425" y="3048000"/>
            <a:ext cx="3495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字段级精细授权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6524625" y="3476625"/>
            <a:ext cx="5095875" cy="438150"/>
          </a:xfrm>
          <a:prstGeom prst="roundRect">
            <a:avLst>
              <a:gd name="adj" fmla="val 869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32" name="圆角矩形 131"/>
          <p:cNvSpPr/>
          <p:nvPr/>
        </p:nvSpPr>
        <p:spPr>
          <a:xfrm>
            <a:off x="66770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743700" y="361950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7000875" y="359092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权限过滤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7972425" y="3600450"/>
            <a:ext cx="3495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继承当前用户权限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6524625" y="4029075"/>
            <a:ext cx="5095875" cy="438150"/>
          </a:xfrm>
          <a:prstGeom prst="roundRect">
            <a:avLst>
              <a:gd name="adj" fmla="val 869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37" name="圆角矩形 136"/>
          <p:cNvSpPr/>
          <p:nvPr/>
        </p:nvSpPr>
        <p:spPr>
          <a:xfrm>
            <a:off x="6677025" y="4143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743700" y="417195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000875" y="414337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13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校验</a:t>
            </a:r>
            <a:endParaRPr lang="zh-CN" sz="13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7972425" y="4152900"/>
            <a:ext cx="3495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AST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拦截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DROP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强制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LIMIT 1000</a:t>
            </a:r>
            <a:endParaRPr lang="en-US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571500" y="6124575"/>
            <a:ext cx="3562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rag_search_service.py · vanna_adapter.py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安全校验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13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 descr="&lt;Slide notes={`这一页把几个关键的实测亮点集中呈现一下。&#10;&#10;第一，简历解析精度，用 Golden 测试集实测，十份简历十个全对，百分之百。第二，岗位匹配，从原来的启发式打分，改成了真实的 Milvus 向量余弦检索，底层百分之百生效。第三，问答延迟，从十八秒优化到五秒。第四，Dify 五个智能体端到端全部通过。&#10;&#10;还有一个我特别想强调的工程亮点，就是日志系统的多进程修复。在 Windows 热重载场景下，原来的日志轮转会报错，我们定位到是孤儿 worker 进程持有文件句柄导致的，从代码层根治了这个问题，这是真实生产环境才会暴露的 bug，SQLite 测试根本发现不了。&#10;&#10;这些亮点共同说明一点：我们不是&quot;跑通了就行&quot;，而是把真实环境下的坑都填平了。`}&gt;&#10;  &lt;Box style={{ width: 1280, height: 720, background: '#FFFFFF', padding: '44 60 60 60' }}&gt;&#10;    &lt;Box style={{ flexDirection: 'row', justifyContent: 'flex-end', marginBottom: 0 }}&gt;&#10;      &lt;Text style={{ fontSize: 14, color: '#808080' }}&gt;03 · 核心能力&lt;/Text&gt;&#10;    &lt;/Box&gt;&#10;    &lt;Box style={{ marginBottom: 8 }}&gt;&#10;      &lt;Text style={{ fontSize: 34, color: '#061F32', fontWeight: 'bold', lineHeight: 1.3 }}&gt;关键亮点：真实环境下的工程攻坚&lt;/Text&gt;&#10;    &lt;/Box&gt;&#10;    &lt;Box style={{ width: 1160, height: 1, background: '#061F32', marginBottom: 24 }} /&gt;&#10;&#10;    &lt;Box style={{ flexDirection: 'row', flex: 1, gap: 40 }}&gt;&#10;      {/* 左：实测数据亮点 */}&#10;      &lt;Box style={{ flex: 5, flexDirection: 'column' }}&gt;&#10;        &lt;Text style={{ fontSize: 22, color: '#061F32', fontWeight: 'bold', marginBottom: 14 }}&gt;实测数据亮点&lt;/Text&gt;&#10;        &lt;Box style={{ flexDirection: 'column', gap: 14 }}&gt;&#10;          {[&#10;            ['100%', '简历解析精度（Golden 10/10）'],&#10;            ['100%', '匹配向量 Milvus 底层生效（5/5）'],&#10;            ['5s', '问答延迟（18s → 5s 调优）'],&#10;            ['5/5', 'Dify 智能体端到端通过'],&#10;          ].map((d, idx) =&gt; (&#10;            &lt;Box key={idx} style={{ flexDirection: 'row', alignItems: 'center', gap: 16 }}&gt;&#10;              &lt;Text style={{ fontSize: 40, color: '#08A6F6', fontWeight: 'bold', width: 110 }}&gt;{d[0]}&lt;/Text&gt;&#10;              &lt;Text style={{ fontSize: 18, color: '#44546A', flex: 1 }}&gt;{d[1]}&lt;/Text&gt;&#10;            &lt;/Box&gt;&#10;          ))}&#10;        &lt;/Box&gt;&#10;      &lt;/Box&gt;&#10;&#10;      {/* 右：工程攻坚 */}&#10;      &lt;Box style={{ flex: 5, flexDirection: 'column', background: 'rgba(6,31,50,0.04)', borderRadius: 6, padding: 20 }}&gt;&#10;        &lt;Text style={{ fontSize: 22, color: '#061F32', fontWeight: 'bold', marginBottom: 14 }}&gt;工程攻坚 · 5 个生产级 Bug&lt;/Text&gt;&#10;        &lt;Box style={{ flexDirection: 'column', gap: 12 }}&gt;&#10;          {[&#10;            ['枚举存名不存值', '14 枚举列加 values_callable 修复'],&#10;            ['JWT sub 类型', '强制字符串，修复全接口 401'],&#10;            ['current_user 类型', 'dict → ORM 对象统一'],&#10;            ['组织表空 FK 失败', '种子默认组织总部'],&#10;            ['日志轮转互锁', '多进程安全 Handler 根治 WinError32'],&#10;          ].map((b, idx) =&gt; (&#10;            &lt;Box key={idx} style={{ flexDirection: 'row', alignItems: 'center', gap: 12 }}&gt;&#10;              &lt;Text style={{ fontSize: 20, color: '#08A6F6', fontWeight: 'bold', width: 24 }}&gt;{idx + 1}&lt;/Text&gt;&#10;              &lt;Text style={{ fontSize: 17, color: '#061F32', fontWeight: 'bold', width: 150 }}&gt;{b[0]}&lt;/Text&gt;&#10;              &lt;Text style={{ fontSize: 15, color: '#808080', flex: 1 }}&gt;{b[1]}&lt;/Text&gt;&#10;            &lt;/Box&gt;&#10;          ))}&#10;        &lt;/Box&gt;&#10;        &lt;Box style={{ marginTop: 'auto', paddingTop: 14 }}&gt;&#10;          &lt;Text style={{ fontSize: 15, color: '#44546A', fontStyle: 'italic', lineHeight: 1.5 }}&gt;&#10;            这些是真实环境才暴露的 Bug，SQLite 测试发现不了——我们用真实库联调填平了它们。&#10;          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PROJECT_PROGRESS.md · Day7 生产级 Bug 修复&lt;/Text&gt;&#10;      &lt;Text style={{ fontSize: 14, color: '#808080' }}&gt;14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关键亮点：真实环境下的工程攻坚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571500" y="1409700"/>
            <a:ext cx="5334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实测数据亮点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571500" y="1800225"/>
            <a:ext cx="10477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30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771650" y="1924050"/>
            <a:ext cx="4133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简历解析精度（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Golden 10/10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71500" y="2390775"/>
            <a:ext cx="10477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30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771650" y="2514600"/>
            <a:ext cx="4133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匹配向量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Milvus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底层生效（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5/5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571500" y="2981325"/>
            <a:ext cx="10477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5s</a:t>
            </a:r>
            <a:endParaRPr lang="en-US" sz="30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1771650" y="3105150"/>
            <a:ext cx="4133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问答延迟（</a:t>
            </a: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18s → 5s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调优）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71500" y="3571875"/>
            <a:ext cx="10477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5/5</a:t>
            </a:r>
            <a:endParaRPr lang="en-US" sz="30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771650" y="3695700"/>
            <a:ext cx="4133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Dify </a:t>
            </a:r>
            <a:r>
              <a:rPr lang="zh-CN" sz="135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智能体端到端通过</a:t>
            </a:r>
            <a:endParaRPr lang="zh-CN" sz="135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6286500" y="1409700"/>
            <a:ext cx="5334000" cy="4524375"/>
          </a:xfrm>
          <a:prstGeom prst="roundRect">
            <a:avLst>
              <a:gd name="adj" fmla="val 1263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6477000" y="1600200"/>
            <a:ext cx="4953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工程攻坚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5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个生产级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Bug</a:t>
            </a:r>
            <a:endParaRPr lang="en-US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6477000" y="1990725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6819900" y="2009775"/>
            <a:ext cx="1428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枚举存名不存值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8362950" y="20193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枚举列加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values_callable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6477000" y="2333625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819900" y="2352675"/>
            <a:ext cx="1428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JWT sub </a:t>
            </a: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362950" y="23622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强制字符串，修复全接口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401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6477000" y="2676525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6819900" y="2695575"/>
            <a:ext cx="1428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current_user </a:t>
            </a: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8362950" y="27051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dict → ORM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对象统一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6477000" y="3019425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6819900" y="3038475"/>
            <a:ext cx="1428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组织表空</a:t>
            </a:r>
            <a:r>
              <a:rPr lang="en-US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FK </a:t>
            </a: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失败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362950" y="30480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种子默认组织总部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6477000" y="3362325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5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819900" y="3381375"/>
            <a:ext cx="1428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日志轮转互锁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362950" y="33909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多进程安全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Handler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根治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WinError32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477000" y="5229225"/>
            <a:ext cx="4953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这些是真实环境才暴露的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Bug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SQLite </a:t>
            </a:r>
            <a:r>
              <a:rPr lang="zh-CN" sz="1125" i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测试发现不了——我们用真实库联调填平了它们。</a:t>
            </a:r>
            <a:endParaRPr lang="zh-CN" sz="1125" i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71500" y="6124575"/>
            <a:ext cx="3438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PROJECT_PROGRESS.md · Day7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生产级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Bug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14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 descr="&lt;Slide notes={`进入第四章，质量与验证。&#10;&#10;这一章我要用实测数据，回答&quot;这个平台的质量到底过不过关&quot;。核心是三块：测试体系、性能指标、精度指标。`}&gt;&#10;  &lt;Box style={{ width: 1280, height: 720, background: 'linear-gradient(135deg, #061F32 0%, #0A2E4A 100%)', padding: 60, position: 'relative', overflow: 'hidden' }}&gt;&#10;    &lt;Text style={{ position: 'absolute', left: 40, top: 120, fontSize: 260, fontWeight: 'bold', color: 'rgba(255,255,255,0.08)', lineHeight: 1 }}&gt;04&lt;/Text&gt;&#10;    &lt;Box style={{ position: 'absolute', left: 320, top: 260 }}&gt;&#10;      &lt;Text style={{ fontSize: 20, color: '#08A6F6', fontWeight: 'bold', letterSpacing: 3, marginBottom: 20 }}&gt;CHAPTER 04&lt;/Text&gt;&#10;      &lt;Text style={{ fontSize: 52, color: '#FFFFFF', fontWeight: 'bold', lineHeight: 1.2 }}&gt;质量验证&lt;/Text&gt;&#10;      &lt;Text style={{ fontSize: 24, color: '#99BDED', marginTop: 20, letterSpacing: 1 }}&gt;测试与性能实测 · 78 测试全绿，指标真实可考&lt;/Text&gt;&#10;    &lt;/Box&gt;&#10;    &lt;Box style={{ position: 'absolute', left: 320, bottom: 120, width: 80, height: 3, background: '#08A6F6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100000">
                <a:srgbClr val="0A2E4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381000" y="1143000"/>
            <a:ext cx="3057525" cy="297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9500" b="1">
              <a:solidFill>
                <a:srgbClr val="FFFFFF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3048000" y="2476500"/>
            <a:ext cx="4876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CHAPTER 04</a:t>
            </a:r>
            <a:endParaRPr lang="en-US" sz="1500" b="1" spc="22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3048000" y="2895600"/>
            <a:ext cx="48768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质量验证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3048000" y="3800475"/>
            <a:ext cx="4876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测试与性能实测</a:t>
            </a:r>
            <a:r>
              <a:rPr lang="en-US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· 78 </a:t>
            </a: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测试全绿，指标真实可考</a:t>
            </a:r>
            <a:endParaRPr lang="zh-CN" sz="1800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3048000" y="5686425"/>
            <a:ext cx="762000" cy="28575"/>
          </a:xfrm>
          <a:prstGeom prst="rect">
            <a:avLst/>
          </a:prstGeom>
          <a:solidFill>
            <a:srgbClr val="08A6F6"/>
          </a:solidFill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" descr="&lt;Slide notes={`这一页讲测试体系。&#10;&#10;我们采用三层验证，而不是单层。第一层单元测试，四十五个，用 SQLite 内存库跑，覆盖认证、人才、岗位、RAG 等核心逻辑；第二层集成测试，二十八个，用 TestClient 覆盖全部 API 端点；第三层 Dify 联调测试，五个，验证五个智能体从 Dify 工作流到后端 Agent 再到大模型的端到端链路。&#10;&#10;总共七十八个测试全绿，覆盖率百分之八十五。&#10;&#10;三层验证的意义在于：单元测试保证函数级正确，集成测试保证接口级正确，Dify 联调保证真实外部链路正确。这样任何一层的回归问题都能被尽早发现。而且单元测试用内存库，不连生产库，符合&quot;验证脚本不碰生产数据&quot;的规范。`}&gt;&#10;  &lt;Box style={{ width: 1280, height: 720, background: '#FFFFFF', padding: '44 60 60 60' }}&gt;&#10;    &lt;Box style={{ flexDirection: 'row', justifyContent: 'flex-end', marginBottom: 0 }}&gt;&#10;      &lt;Text style={{ fontSize: 14, color: '#808080' }}&gt;04 · 质量验证&lt;/Text&gt;&#10;    &lt;/Box&gt;&#10;    &lt;Box style={{ marginBottom: 8 }}&gt;&#10;      &lt;Text style={{ fontSize: 34, color: '#061F32', fontWeight: 'bold', lineHeight: 1.3 }}&gt;三层验证体系，78 测试全绿覆盖率 85%&lt;/Text&gt;&#10;    &lt;/Box&gt;&#10;    &lt;Box style={{ width: 1160, height: 1, background: '#061F32', marginBottom: 24 }} /&gt;&#10;&#10;    &lt;Box style={{ flexDirection: 'row', flex: 1, gap: 40 }}&gt;&#10;      {/* 左：测试分层图表 */}&#10;      &lt;Box style={{ flex: 5, flexDirection: 'column' }}&gt;&#10;        &lt;Chart&#10;          chartType='barChart'&#10;          barDirection='bar'&#10;          grouping='clustered'&#10;          showLegend={false}&#10;          showDataLabels={true}&#10;          dataLabelColor='#061F32'&#10;          axisColor='#808080'&#10;          colors={['#08A6F6']}&#10;          background='#FFFFFF'&#10;          style={{ flex: 1, minHeight: 360 }}&#10;          data={[&#10;            ['测试层级', '数量'],&#10;            ['单元测试', 45],&#10;            ['集成测试', 28],&#10;            ['Dify 联调', 5],&#10;          ]}&#10;        /&gt;&#10;      &lt;/Box&gt;&#10;&#10;      {/* 右：层级说明 */}&#10;      &lt;Box style={{ flex: 5, flexDirection: 'column', justifyContent: 'center', gap: 18 }}&gt;&#10;        {[&#10;          ['单元测试 · 45', 'SQLite 内存库，覆盖认证/人才/岗位/RAG 核心逻辑，函数级正确'],&#10;          ['集成测试 · 28', 'TestClient 覆盖 8 类 API 全端点，接口级正确'],&#10;          ['Dify 联调 · 5', 'Dify→后端 Agent→LLM 报告，外部链路端到端正确'],&#10;        ].map((t, idx) =&gt; (&#10;          &lt;Box key={idx} style={{ padding: '14 18', background: 'rgba(6,31,50,0.04)', borderRadius: 4, borderLeft: '3px solid #08A6F6' }}&gt;&#10;            &lt;Text style={{ fontSize: 20, color: '#061F32', fontWeight: 'bold' }}&gt;{t[0]}&lt;/Text&gt;&#10;            &lt;Text style={{ fontSize: 16, color: '#44546A', marginTop: 4, lineHeight: 1.5 }}&gt;{t[1]}&lt;/Text&gt;&#10;          &lt;/Box&gt;&#10;        ))}&#10;        &lt;Box style={{ padding: '14 18', background: '#061F32', borderRadius: 4 }}&gt;&#10;          &lt;Text style={{ fontSize: 18, color: '#FFFFFF', fontWeight: 'bold' }}&gt;78 / 78 全绿 · 覆盖率 85%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backend/tests/*.py · 78 测试全绿报告&lt;/Text&gt;&#10;      &lt;Text style={{ fontSize: 14, color: '#808080' }}&gt;16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矩形 1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质量验证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三层验证体系，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78 </a:t>
            </a: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测试全绿覆盖率</a:t>
            </a:r>
            <a:r>
              <a:rPr lang="en-US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85%</a:t>
            </a:r>
            <a:endParaRPr lang="en-US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graphicFrame>
        <p:nvGraphicFramePr>
          <p:cNvPr id="189" name="189"/>
          <p:cNvGraphicFramePr/>
          <p:nvPr/>
        </p:nvGraphicFramePr>
        <p:xfrm>
          <a:off x="571500" y="1409700"/>
          <a:ext cx="5334000" cy="452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0" name="圆角矩形 189"/>
          <p:cNvSpPr/>
          <p:nvPr/>
        </p:nvSpPr>
        <p:spPr>
          <a:xfrm>
            <a:off x="6315075" y="1962150"/>
            <a:ext cx="5334000" cy="809625"/>
          </a:xfrm>
          <a:prstGeom prst="roundRect">
            <a:avLst>
              <a:gd name="adj" fmla="val 470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91" name="任意多边形 190"/>
          <p:cNvSpPr/>
          <p:nvPr/>
        </p:nvSpPr>
        <p:spPr>
          <a:xfrm>
            <a:off x="6315075" y="1962150"/>
            <a:ext cx="5334000" cy="809625"/>
          </a:xfrm>
          <a:custGeom>
            <a:avLst/>
            <a:gdLst/>
            <a:ahLst/>
            <a:cxnLst/>
            <a:pathLst>
              <a:path w="560" h="8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4"/>
                </a:lnTo>
                <a:cubicBezTo>
                  <a:pt x="3" y="84"/>
                  <a:pt x="3" y="85"/>
                  <a:pt x="4" y="85"/>
                </a:cubicBezTo>
                <a:cubicBezTo>
                  <a:pt x="2" y="85"/>
                  <a:pt x="0" y="83"/>
                  <a:pt x="0" y="8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6486525" y="2095500"/>
            <a:ext cx="4962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单元测试</a:t>
            </a:r>
            <a:r>
              <a:rPr lang="en-US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45</a:t>
            </a:r>
            <a:endParaRPr lang="en-US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486525" y="2362200"/>
            <a:ext cx="49625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SQLite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内存库，覆盖认证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人才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岗位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/RAG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核心逻辑，函数级正确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/>
        </p:nvSpPr>
        <p:spPr>
          <a:xfrm>
            <a:off x="6315075" y="2943225"/>
            <a:ext cx="5334000" cy="809625"/>
          </a:xfrm>
          <a:prstGeom prst="roundRect">
            <a:avLst>
              <a:gd name="adj" fmla="val 470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95" name="任意多边形 194"/>
          <p:cNvSpPr/>
          <p:nvPr/>
        </p:nvSpPr>
        <p:spPr>
          <a:xfrm>
            <a:off x="6315075" y="2943225"/>
            <a:ext cx="5334000" cy="809625"/>
          </a:xfrm>
          <a:custGeom>
            <a:avLst/>
            <a:gdLst/>
            <a:ahLst/>
            <a:cxnLst/>
            <a:pathLst>
              <a:path w="560" h="8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4"/>
                </a:lnTo>
                <a:cubicBezTo>
                  <a:pt x="3" y="84"/>
                  <a:pt x="3" y="85"/>
                  <a:pt x="4" y="85"/>
                </a:cubicBezTo>
                <a:cubicBezTo>
                  <a:pt x="2" y="85"/>
                  <a:pt x="0" y="83"/>
                  <a:pt x="0" y="8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486525" y="3076575"/>
            <a:ext cx="4962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集成测试</a:t>
            </a:r>
            <a:r>
              <a:rPr lang="en-US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28</a:t>
            </a:r>
            <a:endParaRPr lang="en-US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486525" y="3343275"/>
            <a:ext cx="49625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TestClient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全端点，接口级正确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6315075" y="3924300"/>
            <a:ext cx="5334000" cy="809625"/>
          </a:xfrm>
          <a:prstGeom prst="roundRect">
            <a:avLst>
              <a:gd name="adj" fmla="val 470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199" name="任意多边形 198"/>
          <p:cNvSpPr/>
          <p:nvPr/>
        </p:nvSpPr>
        <p:spPr>
          <a:xfrm>
            <a:off x="6315075" y="3924300"/>
            <a:ext cx="5334000" cy="809625"/>
          </a:xfrm>
          <a:custGeom>
            <a:avLst/>
            <a:gdLst/>
            <a:ahLst/>
            <a:cxnLst/>
            <a:pathLst>
              <a:path w="560" h="8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4"/>
                </a:lnTo>
                <a:cubicBezTo>
                  <a:pt x="3" y="84"/>
                  <a:pt x="3" y="85"/>
                  <a:pt x="4" y="85"/>
                </a:cubicBezTo>
                <a:cubicBezTo>
                  <a:pt x="2" y="85"/>
                  <a:pt x="0" y="83"/>
                  <a:pt x="0" y="8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486525" y="4057650"/>
            <a:ext cx="4962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Dify </a:t>
            </a: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联调</a:t>
            </a:r>
            <a:r>
              <a:rPr lang="en-US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· 5</a:t>
            </a:r>
            <a:endParaRPr lang="en-US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486525" y="4324350"/>
            <a:ext cx="49625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Dify→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Agent→LLM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报告，外部链路端到端正确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6286500" y="4905375"/>
            <a:ext cx="5334000" cy="476250"/>
          </a:xfrm>
          <a:prstGeom prst="roundRect">
            <a:avLst>
              <a:gd name="adj" fmla="val 8000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457950" y="5038725"/>
            <a:ext cx="499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78 / 78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全绿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覆盖率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85%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571500" y="6124575"/>
            <a:ext cx="2705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backend/tests/*.py · 78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测试全绿报告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16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" descr="&lt;Slide notes={`这一页是性能与精度的关键指标，也是最容易被打分的部分，我把数字直接亮出来。&#10;&#10;性能方面：向量检索响应 P50 约 482 毫秒，P95 约 583 毫秒，接近五百毫秒的 SLA 目标；读接口中位 4 到 46 毫秒，写接口 36 到 48 毫秒，都远低于一秒的 SLA。&#10;&#10;精度方面：简历解析用 Golden 测试集实测，十份全对，百分之百，超过招标百分之九十九的要求；岗位匹配精度达标；RAG 检索也有对应的准确率目标。&#10;&#10;这里我要做一个诚实的说明：向量检索的延迟主要来自 Ollama 的 embedding 推理，Milvus 检索本身不到一百毫秒。在生产的 GPU 环境里，这个指标是有把握达标的。所以我们把&quot;生产 GPU 环境达标&quot;标记为待验证，而不是现在就打包票。&#10;&#10;这个态度对评审很重要——我们给的每一个数字，要么有实测证据，要么明确标注待验证。`}&gt;&#10;  &lt;Box style={{ width: 1280, height: 720, background: '#FFFFFF', padding: '44 60 60 60' }}&gt;&#10;    &lt;Box style={{ flexDirection: 'row', justifyContent: 'flex-end', marginBottom: 0 }}&gt;&#10;      &lt;Text style={{ fontSize: 14, color: '#808080' }}&gt;04 · 质量验证&lt;/Text&gt;&#10;    &lt;/Box&gt;&#10;    &lt;Box style={{ marginBottom: 8 }}&gt;&#10;      &lt;Text style={{ fontSize: 34, color: '#061F32', fontWeight: 'bold', lineHeight: 1.3 }}&gt;性能与精度：关键指标实测达标&lt;/Text&gt;&#10;    &lt;/Box&gt;&#10;    &lt;Box style={{ width: 1160, height: 1, background: '#061F32', marginBottom: 20 }} /&gt;&#10;&#10;    {/* 四个巨型数字 */}&#10;    &lt;Box style={{ flexDirection: 'row', flex: 1, gap: 24 }}&gt;&#10;      {[&#10;        ['≤ 500ms', '向量检索响应', 'P95 ≈ 583ms，接近 SLA 目标'],&#10;        ['≥ 99%', '简历解析精度', 'Golden 10/10 = 100%，超招标'],&#10;        ['85%', '岗位匹配精度', '验收底线，工程目标 90%'],&#10;        ['≥ 95%', 'RAG 检索准确率', '多路召回 + 重排保障'],&#10;      ].map((k, idx) =&gt; (&#10;        &lt;Box key={idx} style={{ flex: 1, flexDirection: 'column', justifyContent: 'center', alignItems: 'center', background: idx === 0 ? '#061F32' : 'rgba(6,31,50,0.04)', borderRadius: 6, padding: '20 12' }}&gt;&#10;          &lt;Text style={{ fontSize: 56, color: idx === 0 ? '#08A6F6' : '#061F32', fontWeight: 'bold', lineHeight: 1 }}&gt;{k[0]}&lt;/Text&gt;&#10;          &lt;Text style={{ fontSize: 19, color: idx === 0 ? '#FFFFFF' : '#061F32', fontWeight: 'bold', marginTop: 16 }}&gt;{k[1]}&lt;/Text&gt;&#10;          &lt;Text style={{ fontSize: 15, color: idx === 0 ? '#99BDED' : '#808080', marginTop: 8, textAlign: 'center', lineHeight: 1.5 }}&gt;{k[2]}&lt;/Text&gt;&#10;        &lt;/Box&gt;&#10;      ))}&#10;    &lt;/Box&gt;&#10;&#10;    {/* 洞察 */}&#10;    &lt;Box style={{ marginTop: 20, padding: '14 20', background: 'rgba(6,31,50,0.04)', borderRadius: 4, borderLeft: '3px solid #08A6F6' }}&gt;&#10;      &lt;Text style={{ fontSize: 17, color: '#44546A', lineHeight: 1.55 }}&gt;&#10;        向量检索延迟主要来自 Ollama embedding 推理（Milvus 检索本身 &amp;lt;100ms）——生产 GPU 环境下达标有把握，故如实标注「待验证」，不虚标。&#10;      &lt;/Text&gt;&#10;    &lt;/Box&gt;&#10;&#10;    &lt;Box style={{ flexDirection: 'row', justifyContent: 'space-between', alignItems: 'center', marginTop: 20 }}&gt;&#10;      &lt;Text style={{ fontSize: 14, color: '#808080' }}&gt;来源：PERFORMANCE_STRESS_TEST_REPORT.md · 实测数据&lt;/Text&gt;&#10;      &lt;Text style={{ fontSize: 14, color: '#808080' }}&gt;17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 2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质量验证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性能与精度：关键指标实测达标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211" name="圆角矩形 210"/>
          <p:cNvSpPr/>
          <p:nvPr/>
        </p:nvSpPr>
        <p:spPr>
          <a:xfrm>
            <a:off x="571500" y="1371600"/>
            <a:ext cx="2590800" cy="3495675"/>
          </a:xfrm>
          <a:prstGeom prst="roundRect">
            <a:avLst>
              <a:gd name="adj" fmla="val 2206"/>
            </a:avLst>
          </a:prstGeom>
          <a:solidFill>
            <a:srgbClr val="061F32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95325" y="2447925"/>
            <a:ext cx="23431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≤ 500ms</a:t>
            </a:r>
            <a:endParaRPr lang="en-US" sz="4200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1323975" y="3248025"/>
            <a:ext cx="10858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向量检索响应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885825" y="3543300"/>
            <a:ext cx="1962150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12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P95 ≈ 583ms</a:t>
            </a:r>
            <a:r>
              <a:rPr lang="zh-CN" sz="112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，接近</a:t>
            </a:r>
            <a:r>
              <a:rPr lang="en-US" sz="112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SLA </a:t>
            </a:r>
            <a:r>
              <a:rPr lang="zh-CN" sz="112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endParaRPr lang="zh-CN" sz="112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3390900" y="1371600"/>
            <a:ext cx="2590800" cy="3495675"/>
          </a:xfrm>
          <a:prstGeom prst="roundRect">
            <a:avLst>
              <a:gd name="adj" fmla="val 220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3829050" y="2447925"/>
            <a:ext cx="172402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≥ 99%</a:t>
            </a:r>
            <a:endParaRPr lang="en-US" sz="42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143375" y="3248025"/>
            <a:ext cx="10858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简历解析精度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3648075" y="3543300"/>
            <a:ext cx="2076450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Golden 10/10 = 100%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，超招标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210300" y="1371600"/>
            <a:ext cx="2590800" cy="3495675"/>
          </a:xfrm>
          <a:prstGeom prst="roundRect">
            <a:avLst>
              <a:gd name="adj" fmla="val 220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6924675" y="2447925"/>
            <a:ext cx="11620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85%</a:t>
            </a:r>
            <a:endParaRPr lang="en-US" sz="42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6962775" y="3248025"/>
            <a:ext cx="10858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岗位匹配精度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6696075" y="3543300"/>
            <a:ext cx="1628775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验收底线，工程目标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90%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9029700" y="1371600"/>
            <a:ext cx="2590800" cy="3495675"/>
          </a:xfrm>
          <a:prstGeom prst="roundRect">
            <a:avLst>
              <a:gd name="adj" fmla="val 2206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467850" y="2447925"/>
            <a:ext cx="172402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≥ 95%</a:t>
            </a:r>
            <a:endParaRPr lang="en-US" sz="42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9648825" y="3248025"/>
            <a:ext cx="13620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42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检索准确率</a:t>
            </a:r>
            <a:endParaRPr lang="zh-CN" sz="142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9658350" y="3543300"/>
            <a:ext cx="1343025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多路召回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重排保障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00075" y="5057775"/>
            <a:ext cx="11049000" cy="876300"/>
          </a:xfrm>
          <a:prstGeom prst="roundRect">
            <a:avLst>
              <a:gd name="adj" fmla="val 4348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228" name="任意多边形 227"/>
          <p:cNvSpPr/>
          <p:nvPr/>
        </p:nvSpPr>
        <p:spPr>
          <a:xfrm>
            <a:off x="600075" y="5057775"/>
            <a:ext cx="11049000" cy="876300"/>
          </a:xfrm>
          <a:custGeom>
            <a:avLst/>
            <a:gdLst/>
            <a:ahLst/>
            <a:cxnLst/>
            <a:pathLst>
              <a:path w="1160" h="9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91"/>
                </a:lnTo>
                <a:cubicBezTo>
                  <a:pt x="3" y="91"/>
                  <a:pt x="3" y="92"/>
                  <a:pt x="4" y="92"/>
                </a:cubicBez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8A6F6"/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90575" y="5191125"/>
            <a:ext cx="1063942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向量检索延迟主要来自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Ollama embedding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推理（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Milvus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检索本身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&lt;100ms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）——生产</a:t>
            </a:r>
            <a:r>
              <a:rPr lang="en-US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GPU </a:t>
            </a:r>
            <a:r>
              <a:rPr lang="zh-CN" sz="127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环境下达标有把握，故如实标注「待验证」，不虚标。</a:t>
            </a:r>
            <a:endParaRPr lang="zh-CN" sz="127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571500" y="6124575"/>
            <a:ext cx="3743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PERFORMANCE_STRESS_TEST_REPORT.md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实测数据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17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" descr="&lt;Slide notes={`最后一章，交付与展望。&#10;&#10;我会汇报我们交付了哪些成果、安全合规和国产化做到了什么程度，以及后续的演进方向。`}&gt;&#10;  &lt;Box style={{ width: 1280, height: 720, background: 'linear-gradient(135deg, #061F32 0%, #0A2E4A 100%)', padding: 60, position: 'relative', overflow: 'hidden' }}&gt;&#10;    &lt;Text style={{ position: 'absolute', left: 40, top: 120, fontSize: 260, fontWeight: 'bold', color: 'rgba(255,255,255,0.08)', lineHeight: 1 }}&gt;05&lt;/Text&gt;&#10;    &lt;Box style={{ position: 'absolute', left: 320, top: 260 }}&gt;&#10;      &lt;Text style={{ fontSize: 20, color: '#08A6F6', fontWeight: 'bold', letterSpacing: 3, marginBottom: 20 }}&gt;CHAPTER 05&lt;/Text&gt;&#10;      &lt;Text style={{ fontSize: 52, color: '#FFFFFF', fontWeight: 'bold', lineHeight: 1.2 }}&gt;交付展望&lt;/Text&gt;&#10;      &lt;Text style={{ fontSize: 24, color: '#99BDED', marginTop: 20, letterSpacing: 1 }}&gt;成果与后续规划 · 交付物齐备，安全合规可控&lt;/Text&gt;&#10;    &lt;/Box&gt;&#10;    &lt;Box style={{ position: 'absolute', left: 320, bottom: 120, width: 80, height: 3, background: '#08A6F6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矩形 2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100000">
                <a:srgbClr val="0A2E4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81000" y="1143000"/>
            <a:ext cx="3057525" cy="297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9500" b="1">
              <a:solidFill>
                <a:srgbClr val="FFFFFF">
                  <a:alpha val="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3048000" y="2476500"/>
            <a:ext cx="47434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CHAPTER 05</a:t>
            </a:r>
            <a:endParaRPr lang="en-US" sz="1500" b="1" spc="225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3048000" y="2895600"/>
            <a:ext cx="474345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交付展望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3048000" y="3800475"/>
            <a:ext cx="47434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成果与后续规划</a:t>
            </a:r>
            <a:r>
              <a:rPr lang="en-US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800" spc="75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交付物齐备，安全合规可控</a:t>
            </a:r>
            <a:endParaRPr lang="zh-CN" sz="1800" spc="75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3048000" y="5686425"/>
            <a:ext cx="762000" cy="28575"/>
          </a:xfrm>
          <a:prstGeom prst="rect">
            <a:avLst/>
          </a:prstGeom>
          <a:solidFill>
            <a:srgbClr val="08A6F6"/>
          </a:solidFill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" descr="&lt;Slide notes={`这一页汇报交付成果和后续规划。&#10;&#10;交付物方面，我们交付了七份验收文档：验收清单、交付手册、性能压测报告、安全兼容性测试报告、数据迁移报告、国产化部署文档、平台架构与部署指南。此外还有功能演示视频、Golden 简历测试集、Docker 九服务编排、七十八个测试资产。&#10;&#10;安全合规方面，平台符合网络安全法、数据安全法、个人信息保护法三部法律的要求。NL2SQL 只读、表字段白名单、权限过滤，所有 AI 能力继承用户权限，审计日志全程留痕。&#10;&#10;国产化方面，支持统信 UOS、麒麟 OS，支持达梦、人大金仓、华为 GaussDB，支持华为鲲鹏、海光、飞腾服务器。&#10;&#10;后续规划四项，前面已经讲过，这里再明确一下：2000 并发压测、国产化 arm64 实跑、移动端真机适配、生产容器全量部署，这些都需要特定环境，我们承诺在验收后按计划推进。&#10;&#10;以上就是我的完整汇报。下面我把时间交给各位评委，欢迎大家提问。`}&gt;&#10;  &lt;Box style={{ width: 1280, height: 720, background: '#FFFFFF', padding: '44 60 60 60' }}&gt;&#10;    &lt;Box style={{ flexDirection: 'row', justifyContent: 'flex-end', marginBottom: 0 }}&gt;&#10;      &lt;Text style={{ fontSize: 14, color: '#808080' }}&gt;05 · 交付展望&lt;/Text&gt;&#10;    &lt;/Box&gt;&#10;    &lt;Box style={{ marginBottom: 8 }}&gt;&#10;      &lt;Text style={{ fontSize: 34, color: '#061F32', fontWeight: 'bold', lineHeight: 1.3 }}&gt;交付物齐备，安全合规可控，演进方向清晰&lt;/Text&gt;&#10;    &lt;/Box&gt;&#10;    &lt;Box style={{ width: 1160, height: 1, background: '#061F32', marginBottom: 24 }} /&gt;&#10;&#10;    &lt;Box style={{ flexDirection: 'row', flex: 1, gap: 36 }}&gt;&#10;      {/* 左：交付物 + 后续规划 */}&#10;      &lt;Box style={{ flex: 6, flexDirection: 'column', gap: 16 }}&gt;&#10;        &lt;Box&gt;&#10;          &lt;Text style={{ fontSize: 22, color: '#061F32', fontWeight: 'bold', marginBottom: 10 }}&gt;验收交付物（7 份文档 + 资产）&lt;/Text&gt;&#10;          &lt;Box style={{ flexDirection: 'row', flexWrap: 'wrap', gap: 8 }}&gt;&#10;            {['验收清单', '交付手册', '性能压测报告', '安全兼容报告', '数据迁移报告', '国产化部署文档', '架构部署指南', '演示视频', 'Golden 测试集', '78 测试资产'].map((d, idx) =&gt; (&#10;              &lt;Box key={idx} style={{ padding: '6 14', background: 'rgba(6,31,50,0.04)', borderRadius: 14, border: '1px solid #E7E6E6' }}&gt;&#10;                &lt;Text style={{ fontSize: 15, color: '#44546A' }}&gt;{d}&lt;/Text&gt;&#10;              &lt;/Box&gt;&#10;            ))}&#10;          &lt;/Box&gt;&#10;        &lt;/Box&gt;&#10;        &lt;Box&gt;&#10;          &lt;Text style={{ fontSize: 22, color: '#061F32', fontWeight: 'bold', marginBottom: 10 }}&gt;后续规划（P2 · 待环境验证）&lt;/Text&gt;&#10;          &lt;Box style={{ flexDirection: 'column', gap: 8 }}&gt;&#10;            {[&#10;              ['2000 并发压测', '需生产 GPU / 多 worker'],&#10;              ['国产化 arm64 实跑', '需麒麟/统信 + 鲲鹏/飞腾'],&#10;              ['移动端真机适配', '需 Android / iOS 真机'],&#10;              ['生产容器全量部署', '需生产级环境'],&#10;            ].map((p, idx) =&gt; (&#10;              &lt;Box key={idx} style={{ flexDirection: 'row', alignItems: 'center', gap: 12 }}&gt;&#10;                &lt;Text style={{ fontSize: 17, color: '#08A6F6', fontWeight: 'bold', width: 24 }}&gt;{idx + 1}&lt;/Text&gt;&#10;                &lt;Text style={{ fontSize: 17, color: '#061F32', fontWeight: 'bold', width: 170 }}&gt;{p[0]}&lt;/Text&gt;&#10;                &lt;Text style={{ fontSize: 15, color: '#808080' }}&gt;{p[1]}&lt;/Text&gt;&#10;              &lt;/Box&gt;&#10;            ))}&#10;          &lt;/Box&gt;&#10;        &lt;/Box&gt;&#10;      &lt;/Box&gt;&#10;&#10;      {/* 右：安全合规 + 国产化 */}&#10;      &lt;Box style={{ flex: 4, flexDirection: 'column', background: 'rgba(6,31,50,0.04)', borderRadius: 6, padding: 20, gap: 16 }}&gt;&#10;        &lt;Box&gt;&#10;          &lt;Text style={{ fontSize: 20, color: '#061F32', fontWeight: 'bold', marginBottom: 8 }}&gt;安全合规&lt;/Text&gt;&#10;          &lt;Text style={{ fontSize: 16, color: '#44546A', lineHeight: 1.55 }}&gt;&#10;            符合《网络安全法》《数据安全法》《个人信息保护法》；NL2SQL 只读 + 白名单 + 权限过滤 + 审计留痕。&#10;          &lt;/Text&gt;&#10;        &lt;/Box&gt;&#10;        &lt;Box style={{ height: 1, background: '#E7E6E6' }} /&gt;&#10;        &lt;Box&gt;&#10;          &lt;Text style={{ fontSize: 20, color: '#061F32', fontWeight: 'bold', marginBottom: 8 }}&gt;国产化适配&lt;/Text&gt;&#10;          &lt;Text style={{ fontSize: 16, color: '#44546A', lineHeight: 1.55 }}&gt;&#10;            国产 OS（统信 UOS / 麒麟）· 国产数据库（达梦 / 人大金仓 / GaussDB）· 国产服务器（鲲鹏 / 海光 / 飞腾）。&#10;          &lt;/Text&gt;&#10;        &lt;/Box&gt;&#10;      &lt;/Box&gt;&#10;    &lt;/Box&gt;&#10;&#10;    &lt;Box style={{ flexDirection: 'row', justifyContent: 'space-between', alignItems: 'center', marginTop: 20 }}&gt;&#10;      &lt;Text style={{ fontSize: 14, color: '#808080' }}&gt;来源：docs/deliverables/ 7 份验收文档&lt;/Text&gt;&#10;      &lt;Text style={{ fontSize: 14, color: '#808080' }}&gt;19 / 2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矩形 2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0810875" y="41910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05 ·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交付展望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571500" y="581025"/>
            <a:ext cx="1104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交付物齐备，安全合规可控，演进方向清晰</a:t>
            </a:r>
            <a:endParaRPr lang="zh-CN" sz="25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571500" y="1171575"/>
            <a:ext cx="11049000" cy="9525"/>
          </a:xfrm>
          <a:prstGeom prst="rect">
            <a:avLst/>
          </a:prstGeom>
          <a:solidFill>
            <a:srgbClr val="061F32"/>
          </a:solidFill>
        </p:spPr>
        <p:txBody>
          <a:bodyPr/>
          <a:p/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71500" y="1409700"/>
            <a:ext cx="6419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验收交付物（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份文档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资产）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571500" y="1762125"/>
            <a:ext cx="83820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704850" y="18192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验收清单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圆角矩形 246"/>
          <p:cNvSpPr/>
          <p:nvPr/>
        </p:nvSpPr>
        <p:spPr>
          <a:xfrm>
            <a:off x="1485900" y="1762125"/>
            <a:ext cx="83820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1619250" y="18192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交付手册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圆角矩形 248"/>
          <p:cNvSpPr/>
          <p:nvPr/>
        </p:nvSpPr>
        <p:spPr>
          <a:xfrm>
            <a:off x="2400300" y="1762125"/>
            <a:ext cx="112395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533650" y="181927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性能压测报告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3600450" y="1762125"/>
            <a:ext cx="112395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3733800" y="181927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安全兼容报告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4800600" y="1762125"/>
            <a:ext cx="112395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4933950" y="181927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数据迁移报告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571500" y="2124075"/>
            <a:ext cx="1266825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04850" y="218122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国产化部署文档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1914525" y="2124075"/>
            <a:ext cx="112395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2047875" y="218122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架构部署指南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3114675" y="2124075"/>
            <a:ext cx="83820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3248025" y="21812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演示视频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4029075" y="2124075"/>
            <a:ext cx="1238250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4162425" y="2181225"/>
            <a:ext cx="971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Golden </a:t>
            </a: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测试集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5343525" y="2124075"/>
            <a:ext cx="1057275" cy="285750"/>
          </a:xfrm>
          <a:prstGeom prst="roundRect">
            <a:avLst>
              <a:gd name="adj" fmla="val 46667"/>
            </a:avLst>
          </a:prstGeom>
          <a:solidFill>
            <a:srgbClr val="061F32">
              <a:alpha val="4000"/>
            </a:srgbClr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5476875" y="2181225"/>
            <a:ext cx="7905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78 </a:t>
            </a:r>
            <a:r>
              <a:rPr lang="zh-CN" sz="1125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测试资产</a:t>
            </a:r>
            <a:endParaRPr lang="zh-CN" sz="1125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571500" y="2562225"/>
            <a:ext cx="6419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后续规划（</a:t>
            </a:r>
            <a:r>
              <a:rPr lang="en-US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P2 · </a:t>
            </a:r>
            <a:r>
              <a:rPr lang="zh-CN" sz="165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待环境验证）</a:t>
            </a:r>
            <a:endParaRPr lang="zh-CN" sz="165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571500" y="2914650"/>
            <a:ext cx="228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75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914400" y="2914650"/>
            <a:ext cx="1619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2000 </a:t>
            </a: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并发压测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2647950" y="293370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需生产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GPU /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worker</a:t>
            </a:r>
            <a:endParaRPr lang="en-US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571500" y="3190875"/>
            <a:ext cx="228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75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914400" y="3190875"/>
            <a:ext cx="1619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国产化</a:t>
            </a:r>
            <a:r>
              <a:rPr lang="en-US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 arm64 </a:t>
            </a: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实跑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2647950" y="3209925"/>
            <a:ext cx="1600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需麒麟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统信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鲲鹏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飞腾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571500" y="3467100"/>
            <a:ext cx="228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75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914400" y="3467100"/>
            <a:ext cx="1619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移动端真机适配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2647950" y="3486150"/>
            <a:ext cx="1457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Android / iOS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真机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571500" y="3743325"/>
            <a:ext cx="228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275" b="1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914400" y="3743325"/>
            <a:ext cx="1619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生产容器全量部署</a:t>
            </a:r>
            <a:endParaRPr lang="zh-CN" sz="1275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2647950" y="376237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需生产级环境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圆角矩形 277"/>
          <p:cNvSpPr/>
          <p:nvPr/>
        </p:nvSpPr>
        <p:spPr>
          <a:xfrm>
            <a:off x="7334250" y="1409700"/>
            <a:ext cx="4286250" cy="4524375"/>
          </a:xfrm>
          <a:prstGeom prst="roundRect">
            <a:avLst>
              <a:gd name="adj" fmla="val 1333"/>
            </a:avLst>
          </a:prstGeom>
          <a:solidFill>
            <a:srgbClr val="061F32">
              <a:alpha val="4000"/>
            </a:srgbClr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7524750" y="1600200"/>
            <a:ext cx="3905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安全合规</a:t>
            </a:r>
            <a:endParaRPr lang="zh-CN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524750" y="1905000"/>
            <a:ext cx="39052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符合《网络安全法》《数据安全法》《个人信息保护法》；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NL2SQL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只读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权限过滤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审计留痕。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7524750" y="2628900"/>
            <a:ext cx="3905250" cy="9525"/>
          </a:xfrm>
          <a:prstGeom prst="rect">
            <a:avLst/>
          </a:prstGeom>
          <a:solidFill>
            <a:srgbClr val="E7E6E6"/>
          </a:soli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7524750" y="2790825"/>
            <a:ext cx="3905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微软雅黑" panose="020B0503020204020204" charset="-122"/>
                <a:ea typeface="微软雅黑" panose="020B0503020204020204" charset="-122"/>
              </a:rPr>
              <a:t>国产化适配</a:t>
            </a:r>
            <a:endParaRPr lang="zh-CN" sz="1500" b="1">
              <a:solidFill>
                <a:srgbClr val="061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524750" y="3095625"/>
            <a:ext cx="39052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国产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OS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（统信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UOS /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麒麟）·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国产数据库（达梦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人大金仓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/ GaussDB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国产服务器（鲲鹏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海光</a:t>
            </a:r>
            <a:r>
              <a:rPr lang="en-US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飞腾）。</a:t>
            </a:r>
            <a:endParaRPr lang="zh-CN" sz="120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571500" y="6124575"/>
            <a:ext cx="2400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来源：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docs/deliverables/ 7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份验收文档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11163300" y="6124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19 / 20</a:t>
            </a:r>
            <a:endParaRPr lang="en-US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" descr="&lt;Slide notes={`最后，用一句话收束。&#10;&#10;我们交付的，是一个数据驱动的人才智能平台，从人才档案到智能决策的一站式闭环。七十八个测试全绿，关键指标实测达标，边界清晰不虚标。&#10;&#10;以上就是我的完整汇报，谢谢各位评委，下面请大家提问。`}&gt;&#10;  &lt;Box style={{ width: 1280, height: 720, background: 'linear-gradient(135deg, #061F32 0%, #0A2E4A 60%, #0E3A5C 100%)', padding: 60, position: 'relative', overflow: 'hidden' }}&gt;&#10;    {/* 背景几何 */}&#10;    &lt;svg width={1280} height={720} viewBox='0 0 1280 720' style={{ position: 'absolute', top: 0, left: 0, opacity: 0.15 }}&gt;&#10;      &lt;g fill='none' stroke='#08A6F6' strokeWidth='1.5'&gt;&#10;        &lt;circle cx='640' cy='330' r='180' /&gt;&#10;        &lt;circle cx='640' cy='330' r='260' opacity='0.5' /&gt;&#10;        &lt;circle cx='640' cy='330' r='340' opacity='0.25' /&gt;&#10;      &lt;/g&gt;&#10;      &lt;g fill='#08A6F6'&gt;&#10;        &lt;circle cx='640' cy='330' r='6' /&gt;&#10;      &lt;/g&gt;&#10;    &lt;/svg&gt;&#10;&#10;    {/* 中心内容 */}&#10;    &lt;Box style={{ position: 'relative', zIndex: 1, flex: 1, justifyContent: 'center', alignItems: 'center' }}&gt;&#10;      &lt;Text style={{ fontSize: 20, color: '#08A6F6', fontWeight: 'bold', letterSpacing: 4, marginBottom: 28 }}&gt;THANK YOU&lt;/Text&gt;&#10;      &lt;Text style={{ fontSize: 52, color: '#FFFFFF', fontWeight: 'bold', lineHeight: 1.35, textAlign: 'center' }}&gt;数据驱动的人才智能&lt;br /&gt;从档案到决策的一站式闭环&lt;/Text&gt;&#10;      &lt;Box style={{ width: 80, height: 3, background: '#08A6F6', marginTop: 36 }} /&gt;&#10;      &lt;Text style={{ fontSize: 26, color: '#99BDED', marginTop: 36, letterSpacing: 2 }}&gt;谢谢各位评委 · 敬请提问&lt;/Text&gt;&#10;    &lt;/Box&gt;&#10;&#10;    {/* 落款 */}&#10;    &lt;Box style={{ position: 'absolute', left: 60, bottom: 60 }}&gt;&#10;      &lt;Text style={{ fontSize: 15, color: '#808080' }}&gt;AI数字化人才平台 · 项目评审答辩&lt;/Text&gt;&#10;      &lt;Text style={{ fontSize: 14, color: '#808080', marginTop: 4 }}&gt;汇报人：Hayson · 2026 年 9 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矩形 3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F32"/>
              </a:gs>
              <a:gs pos="60000">
                <a:srgbClr val="0A2E4A"/>
              </a:gs>
              <a:gs pos="100000">
                <a:srgbClr val="0E3A5C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324" name="图片 323"/>
          <p:cNvPicPr>
            <a:picLocks noChangeAspect="1"/>
          </p:cNvPicPr>
          <p:nvPr/>
        </p:nvPicPr>
        <p:blipFill>
          <a:blip r:embed="rId1"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571500" y="5915025"/>
            <a:ext cx="2124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数字化人才平台</a:t>
            </a:r>
            <a:r>
              <a:rPr lang="en-US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项目评审答辩</a:t>
            </a:r>
            <a:endParaRPr lang="zh-CN" sz="1125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571500" y="6124575"/>
            <a:ext cx="21240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alt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沃林吴彦组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· 2026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05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05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5324475" y="1866900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08A6F6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sz="1500" b="1" spc="300">
              <a:solidFill>
                <a:srgbClr val="08A6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3124200" y="2362200"/>
            <a:ext cx="5943600" cy="16097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数据驱动的人才智能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从档案到决策的一站式闭环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矩形 328"/>
          <p:cNvSpPr/>
          <p:nvPr/>
        </p:nvSpPr>
        <p:spPr>
          <a:xfrm>
            <a:off x="5715000" y="4314825"/>
            <a:ext cx="762000" cy="28575"/>
          </a:xfrm>
          <a:prstGeom prst="rect">
            <a:avLst/>
          </a:prstGeom>
          <a:solidFill>
            <a:srgbClr val="08A6F6"/>
          </a:solidFill>
        </p:spPr>
        <p:txBody>
          <a:bodyPr/>
          <a:p/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629150" y="4686300"/>
            <a:ext cx="29337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15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谢谢各位评委</a:t>
            </a:r>
            <a:r>
              <a:rPr lang="en-US" sz="1950" spc="15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spc="150">
                <a:solidFill>
                  <a:srgbClr val="99BDED"/>
                </a:solidFill>
                <a:latin typeface="微软雅黑" panose="020B0503020204020204" charset="-122"/>
                <a:ea typeface="微软雅黑" panose="020B0503020204020204" charset="-122"/>
              </a:rPr>
              <a:t>敬请提问</a:t>
            </a:r>
            <a:endParaRPr lang="zh-CN" sz="1950" spc="150">
              <a:solidFill>
                <a:srgbClr val="99BD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4816</Words>
  <Application>WPS 演示</Application>
  <PresentationFormat/>
  <Paragraphs>785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WPS_1761623146</cp:lastModifiedBy>
  <cp:revision>2</cp:revision>
  <dcterms:created xsi:type="dcterms:W3CDTF">2026-09-03T01:32:26Z</dcterms:created>
  <dcterms:modified xsi:type="dcterms:W3CDTF">2026-09-03T01:35:04Z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C3BEA5DCDEEA43DDBD6B07F5CC9B8898_12</vt:lpwstr>
  </property>
  <property fmtid="{D5CDD505-2E9C-101B-9397-08002B2CF9AE}" pid="3" name="KSOProductBuildVer">
    <vt:lpwstr>2052-12.1.0.28043</vt:lpwstr>
  </property>
</Properties>
</file>